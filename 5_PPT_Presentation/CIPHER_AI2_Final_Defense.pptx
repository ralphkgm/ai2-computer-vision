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749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57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033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05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629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22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464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44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372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7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4853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FEDD8ED-39E1-7242-AE5C-13594EA1354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65CE196-5EB2-2540-B1B5-32629CE35A4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1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Two-Stage Instance Segmentation of Post-Harvest Surface Defects in Apple and Tomato Using YOLO26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200"/>
              <a:t>Ralph Kevin G. Morales</a:t>
            </a:r>
          </a:p>
          <a:p>
            <a:pPr/>
            <a:r>
              <a:rPr sz="1200"/>
              <a:t>Alexander Jann P. Espia</a:t>
            </a:r>
          </a:p>
          <a:p>
            <a:pPr/>
            <a:r>
              <a:rPr sz="1200"/>
              <a:t>Deangelo James P. Largueza</a:t>
            </a:r>
          </a:p>
          <a:p>
            <a:pPr/>
            <a:r>
              <a:rPr sz="1200"/>
              <a:t>Niel Francis M. Arligue</a:t>
            </a:r>
          </a:p>
          <a:p>
            <a:pPr/>
            <a:r>
              <a:rPr sz="1200"/>
              <a:t>Adviser: Dr. Lysa V. Comia</a:t>
            </a:r>
          </a:p>
          <a:p>
            <a:pPr/>
            <a:r>
              <a:rPr sz="1200"/>
              <a:t>AI2 AM3 | Mapúa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 and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1024128" y="2103120"/>
            <a:ext cx="4665635" cy="4251960"/>
          </a:xfrm>
        </p:spPr>
        <p:txBody>
          <a:bodyPr/>
          <a:lstStyle/>
          <a:p>
            <a:pPr/>
            <a:r>
              <a:t>Visible defects like bruises, rot and cuts decide the grade of fresh fruit</a:t>
            </a:r>
          </a:p>
          <a:p>
            <a:pPr/>
            <a:r>
              <a:t>Manual inspection is slow and inconsistent</a:t>
            </a:r>
          </a:p>
          <a:p>
            <a:pPr/>
            <a:r>
              <a:t>Public datasets such as AFruitDB give one grade per photo</a:t>
            </a:r>
          </a:p>
          <a:p>
            <a:pPr/>
            <a:r>
              <a:t>A grade does not show where the defect is or how big it is</a:t>
            </a:r>
          </a:p>
          <a:p>
            <a:pPr/>
            <a:r>
              <a:t>Instance segmentation outlines each defect so its size can be measured</a:t>
            </a:r>
          </a:p>
        </p:txBody>
      </p:sp>
      <p:pic>
        <p:nvPicPr>
          <p:cNvPr id="4" name="Picture 3" descr="pred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402" y="2103120"/>
            <a:ext cx="42519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2103120"/>
            <a:ext cx="9720073" cy="4251960"/>
          </a:xfrm>
        </p:spPr>
        <p:txBody>
          <a:bodyPr/>
          <a:lstStyle/>
          <a:p>
            <a:pPr/>
            <a:r>
              <a:rPr sz="2200"/>
              <a:t>Develop a two-stage YOLO26 model that segments visible surface defects on apple and tomato</a:t>
            </a:r>
          </a:p>
          <a:p>
            <a:pPr lvl="1"/>
            <a:r>
              <a:rPr sz="2000"/>
              <a:t>Build team-reviewed pixel masks for three defect classes</a:t>
            </a:r>
          </a:p>
          <a:p>
            <a:pPr lvl="1"/>
            <a:r>
              <a:rPr sz="2000"/>
              <a:t>Train Stage 1 on the whole fruit, then Stage 2 on the defects</a:t>
            </a:r>
          </a:p>
          <a:p>
            <a:pPr lvl="1"/>
            <a:r>
              <a:rPr sz="2000"/>
              <a:t>Evaluate once on an untouched test set</a:t>
            </a:r>
          </a:p>
          <a:p>
            <a:pPr lvl="1"/>
            <a:r>
              <a:rPr sz="2000"/>
              <a:t>Compare separate per-fruit models with one combined model</a:t>
            </a:r>
          </a:p>
          <a:p>
            <a:pPr lvl="1"/>
            <a:r>
              <a:rPr sz="2000"/>
              <a:t>Deploy a web app that marks defects and reports the damaged share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972007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243"/>
                <a:gridCol w="1924766"/>
                <a:gridCol w="1924766"/>
                <a:gridCol w="1251098"/>
                <a:gridCol w="2502197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Fruit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Reported score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Leiva et al.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Apple scab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YOLO11-seg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Lesion mAP50 0.75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Tan et al.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Blueberry 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YOLOv8 + YOLO11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Bruise mAP50 0.940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Agarla et al.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Apple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U-shaped 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Pixel F-score 0.794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Knott et al.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Banana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MaskFormer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PQ about 78%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This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Apple and tomato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YOLO26l-seg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Test mAP50 0.613 / 0.393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All pixel masks drawn and reviewed by the team in Roboflow</a:t>
            </a:r>
          </a:p>
          <a:p>
            <a:pPr/>
            <a:r>
              <a:t>AFruitDB grades were not used as targets</a:t>
            </a:r>
          </a:p>
          <a:p>
            <a:pPr/>
            <a:r>
              <a:t>Split by capture group so copies of a photo stay together</a:t>
            </a:r>
          </a:p>
          <a:p>
            <a:pPr/>
            <a:r>
              <a:t>Test set frozen before training and used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24128" y="2103120"/>
          <a:ext cx="466563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5094"/>
                <a:gridCol w="1410540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Train files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AFruitDB apple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986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Lab2Wild apple rot (Kaggle)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843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Team apple photos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281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AFruitDB tomato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1,313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Defect 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Bruise or discoloration</a:t>
            </a:r>
          </a:p>
          <a:p>
            <a:pPr lvl="1"/>
            <a:r>
              <a:t>Smooth dark or discolored patch</a:t>
            </a:r>
          </a:p>
          <a:p>
            <a:pPr/>
            <a:r>
              <a:t>Rot, mold or decay</a:t>
            </a:r>
          </a:p>
          <a:p>
            <a:pPr lvl="1"/>
            <a:r>
              <a:t>Soft collapsed or moldy tissue</a:t>
            </a:r>
          </a:p>
          <a:p>
            <a:pPr/>
            <a:r>
              <a:t>Surface damage</a:t>
            </a:r>
          </a:p>
          <a:p>
            <a:pPr lvl="1"/>
            <a:r>
              <a:t>Cut, crack, scar or dry spot</a:t>
            </a:r>
          </a:p>
          <a:p>
            <a:pPr/>
            <a:r>
              <a:t>Each class has more than 300 training images</a:t>
            </a:r>
          </a:p>
        </p:txBody>
      </p:sp>
      <p:pic>
        <p:nvPicPr>
          <p:cNvPr id="5" name="Picture 4" descr="defect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832" y="2103120"/>
            <a:ext cx="4178226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Two-Stage Method</a:t>
            </a:r>
          </a:p>
        </p:txBody>
      </p:sp>
      <p:pic>
        <p:nvPicPr>
          <p:cNvPr id="3" name="Picture 2" descr="two_stage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354" y="2103120"/>
            <a:ext cx="6103620" cy="32552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4128" y="5541264"/>
            <a:ext cx="9720073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Stage 1 segments the whole fruit. Stage 2 starts from the Stage 1 weights and segments the defects. Damaged share = defect pixels / fruit pixels.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Setup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Google Colab, NVIDIA A100</a:t>
            </a:r>
          </a:p>
          <a:p>
            <a:pPr/>
            <a:r>
              <a:t>Ultralytics 8.4.126, seed 0</a:t>
            </a:r>
          </a:p>
          <a:p>
            <a:pPr/>
            <a:r>
              <a:t>Flips, small rotation, scale and color augmentation</a:t>
            </a:r>
          </a:p>
          <a:p>
            <a:pPr/>
            <a:r>
              <a:t>No Mosaic or MixUp so defect texture stays real</a:t>
            </a:r>
          </a:p>
          <a:p>
            <a:pPr/>
            <a:r>
              <a:t>24 runs from first pilot to final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24128" y="2103120"/>
          <a:ext cx="466563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2928"/>
                <a:gridCol w="1333038"/>
                <a:gridCol w="1499668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Stage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Stage 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Start weights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yolo26l-seg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Stage 1 best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fruit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 defects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Optimizer / 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SGD / 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AdamW / 0.0005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Epochs / 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100 /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300 / 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Image size / 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864 / 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864 / 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Apple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4665633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615"/>
                <a:gridCol w="1296009"/>
                <a:gridCol w="1296009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Mask 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Test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0.732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Surface damage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0.511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All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0.613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0.597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Stage 1 whole apple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565" y="2479487"/>
            <a:ext cx="4665635" cy="34992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Tomato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4665633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615"/>
                <a:gridCol w="1296009"/>
                <a:gridCol w="1296009"/>
              </a:tblGrid>
              <a:tr h="457200">
                <a:tc>
                  <a:txBody>
                    <a:bodyPr/>
                    <a:lstStyle/>
                    <a:p>
                      <a:r>
                        <a:rPr sz="1700"/>
                        <a:t>Mask 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Test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0.533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0.477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Surface damage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0.314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All defects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0.732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0.375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/>
                        <a:t>Stage 1 whole tomato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0.966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/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565" y="2479487"/>
            <a:ext cx="4665635" cy="34992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Separate vs Combined Model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24128" y="2103120"/>
          <a:ext cx="972007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833"/>
                <a:gridCol w="1767286"/>
                <a:gridCol w="1914559"/>
                <a:gridCol w="1914559"/>
                <a:gridCol w="2061833"/>
              </a:tblGrid>
              <a:tr h="457200">
                <a:tc>
                  <a:txBody>
                    <a:bodyPr/>
                    <a:lstStyle/>
                    <a:p>
                      <a:r>
                        <a:rPr sz="1600"/>
                        <a:t>Test 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Apple sep.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Apple comb.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Tomato sep.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Tomato comb.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Bruise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0.360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0.442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0.253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0.586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0.352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separate_v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44" y="4544568"/>
            <a:ext cx="60350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Damaged Share vs Team Labels</a:t>
            </a:r>
          </a:p>
        </p:txBody>
      </p:sp>
      <p:pic>
        <p:nvPicPr>
          <p:cNvPr id="3" name="Picture 2" descr="coverage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357" y="2103120"/>
            <a:ext cx="7987615" cy="33366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24128" y="5622645"/>
            <a:ext cx="9720073" cy="732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Correlation r = 0.91 on apple and 0.82 on tomato. Mean error 5.2 and 3.7 percentage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Predictions on Unseen Test Images</a:t>
            </a:r>
          </a:p>
        </p:txBody>
      </p:sp>
      <p:pic>
        <p:nvPicPr>
          <p:cNvPr id="3" name="Picture 2" descr="good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177681"/>
            <a:ext cx="9720073" cy="41028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Failure Cases</a:t>
            </a:r>
          </a:p>
        </p:txBody>
      </p:sp>
      <p:pic>
        <p:nvPicPr>
          <p:cNvPr id="3" name="Picture 2" descr="failure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177681"/>
            <a:ext cx="9720073" cy="41028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Application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t>Streamlit app</a:t>
            </a:r>
          </a:p>
          <a:p>
            <a:pPr/>
            <a:r>
              <a:t>Choose apple, tomato or the combined model</a:t>
            </a:r>
          </a:p>
          <a:p>
            <a:pPr/>
            <a:r>
              <a:t>Upload a photo or use a sample</a:t>
            </a:r>
          </a:p>
          <a:p>
            <a:pPr/>
            <a:r>
              <a:t>Shows defect masks and damaged share</a:t>
            </a:r>
          </a:p>
          <a:p>
            <a:pPr/>
            <a:r>
              <a:t>Live demo</a:t>
            </a:r>
          </a:p>
        </p:txBody>
      </p:sp>
      <p:pic>
        <p:nvPicPr>
          <p:cNvPr id="5" name="Picture 4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440607"/>
            <a:ext cx="4665635" cy="35769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and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1024128" y="2103120"/>
            <a:ext cx="4665635" cy="4251960"/>
          </a:xfrm>
        </p:spPr>
        <p:txBody>
          <a:bodyPr/>
          <a:lstStyle/>
          <a:p>
            <a:pPr/>
            <a:r>
              <a:rPr sz="1900"/>
              <a:t>Stage 1 segments the whole fruit almost perfectly (0.985 apple, 0.966 tomato)</a:t>
            </a:r>
          </a:p>
          <a:p>
            <a:pPr/>
            <a:r>
              <a:rPr sz="1900"/>
              <a:t>Apple defects reach 0.613 test mAP50, tomato 0.393</a:t>
            </a:r>
          </a:p>
          <a:p>
            <a:pPr/>
            <a:r>
              <a:rPr sz="1900"/>
              <a:t>Rot is the most stable class, surface damage the hardest</a:t>
            </a:r>
          </a:p>
          <a:p>
            <a:pPr/>
            <a:r>
              <a:rPr sz="1900"/>
              <a:t>One combined model is close to two separate models</a:t>
            </a:r>
          </a:p>
          <a:p>
            <a:pPr/>
            <a:r>
              <a:rPr sz="1900"/>
              <a:t>Damaged share closely follows the team labels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078565" y="2103120"/>
            <a:ext cx="4665635" cy="4251960"/>
          </a:xfrm>
        </p:spPr>
        <p:txBody>
          <a:bodyPr/>
          <a:lstStyle/>
          <a:p>
            <a:pPr/>
            <a:r>
              <a:rPr sz="1900"/>
              <a:t>Collect more small-defect and tomato images</a:t>
            </a:r>
          </a:p>
          <a:p>
            <a:pPr/>
            <a:r>
              <a:rPr sz="1900"/>
              <a:t>Run a single-stage baseline with identical settings</a:t>
            </a:r>
          </a:p>
          <a:p>
            <a:pPr/>
            <a:r>
              <a:rPr sz="1900"/>
              <a:t>Test on new sources and lighting</a:t>
            </a:r>
          </a:p>
          <a:p>
            <a:pPr/>
            <a:r>
              <a:rPr sz="1900"/>
              <a:t>Measure agreement between annotators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2103120"/>
            <a:ext cx="9720073" cy="4251960"/>
          </a:xfrm>
        </p:spPr>
        <p:txBody>
          <a:bodyPr/>
          <a:lstStyle/>
          <a:p>
            <a:pPr/>
            <a:r>
              <a:rPr sz="1600"/>
              <a:t>Mojumdar et al., AFruitDB, Data in Brief, 2025</a:t>
            </a:r>
          </a:p>
          <a:p>
            <a:pPr/>
            <a:r>
              <a:rPr sz="1600"/>
              <a:t>Leiva et al., Apple scab with YOLO11, Plant Methods, 2026</a:t>
            </a:r>
          </a:p>
          <a:p>
            <a:pPr/>
            <a:r>
              <a:rPr sz="1600"/>
              <a:t>Tan et al., Blueberry internal bruising, Front. Plant Sci., 2025</a:t>
            </a:r>
          </a:p>
          <a:p>
            <a:pPr/>
            <a:r>
              <a:rPr sz="1600"/>
              <a:t>Agarla et al., Apple defect segmentation, Sensors, 2023</a:t>
            </a:r>
          </a:p>
          <a:p>
            <a:pPr/>
            <a:r>
              <a:rPr sz="1600"/>
              <a:t>Knott et al., Panoptic segmentation for produce grading, CVPRW, 2025</a:t>
            </a:r>
          </a:p>
          <a:p>
            <a:pPr/>
            <a:r>
              <a:rPr sz="1600"/>
              <a:t>Nesteruk, Apple rotting segmentation in the wild, Kaggle</a:t>
            </a:r>
          </a:p>
          <a:p>
            <a:pPr/>
            <a:r>
              <a:rPr sz="1600"/>
              <a:t>Ultralytics, YOLO26 documentation,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Questions and live demo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Tw Cen MT</vt:lpstr>
      <vt:lpstr>Tw Cen MT Condensed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RALPH KEVIN G. MORALES</dc:creator>
  <cp:lastModifiedBy>RALPH KEVIN G. MORALES</cp:lastModifiedBy>
  <cp:revision>1</cp:revision>
  <dcterms:created xsi:type="dcterms:W3CDTF">2026-10-02T08:21:51Z</dcterms:created>
  <dcterms:modified xsi:type="dcterms:W3CDTF">2026-10-02T08:21:53Z</dcterms:modified>
</cp:coreProperties>
</file>