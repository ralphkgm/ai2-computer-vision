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2.jpg"/><Relationship Id="rId4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jpg"/><Relationship Id="rId4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Relationship Id="rId4" Type="http://schemas.openxmlformats.org/officeDocument/2006/relationships/image" Target="../media/image5.jpg"/><Relationship Id="rId5" Type="http://schemas.openxmlformats.org/officeDocument/2006/relationships/image" Target="../media/image2.jpg"/><Relationship Id="rId6" Type="http://schemas.openxmlformats.org/officeDocument/2006/relationships/image" Target="../media/image4.jpg"/><Relationship Id="rId7" Type="http://schemas.openxmlformats.org/officeDocument/2006/relationships/image" Target="../media/image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66560" y="0"/>
            <a:ext cx="91440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F2A900"/>
                </a:solidFill>
                <a:latin typeface="Arial"/>
              </a:rPr>
              <a:t>MAPÚA UNIVERSITY   |   SCHOOL OF INFORMATION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585216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Arial"/>
              </a:rPr>
              <a:t>Computer Vision-Driven Two-Stage Instance Segmentation of Post-Harvest Surface Defects in Apple and Tomato Using YOLO26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160520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343400"/>
            <a:ext cx="58521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Ralph Kevin G. Morales   Alexander Jann P. Espia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Deangelo James P. Largueza   Niel Francis M. Arligue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2A900"/>
                </a:solidFill>
                <a:latin typeface="Arial"/>
              </a:rPr>
              <a:t>Adviser: Dr. Lysa V. Comia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6D9DC"/>
                </a:solidFill>
                <a:latin typeface="Arial"/>
              </a:rPr>
              <a:t>CIPHER   |   Artificial Intelligence 2   |   AM3   |   Final Defense, October 2026</a:t>
            </a:r>
          </a:p>
        </p:txBody>
      </p:sp>
      <p:pic>
        <p:nvPicPr>
          <p:cNvPr id="9" name="Picture 8" descr="apple_rot_b_p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45720"/>
            <a:ext cx="2240280" cy="2240280"/>
          </a:xfrm>
          <a:prstGeom prst="rect">
            <a:avLst/>
          </a:prstGeom>
        </p:spPr>
      </p:pic>
      <p:pic>
        <p:nvPicPr>
          <p:cNvPr id="10" name="Picture 9" descr="tomato_rot_a_p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48" y="45720"/>
            <a:ext cx="2240280" cy="2240280"/>
          </a:xfrm>
          <a:prstGeom prst="rect">
            <a:avLst/>
          </a:prstGeom>
        </p:spPr>
      </p:pic>
      <p:pic>
        <p:nvPicPr>
          <p:cNvPr id="11" name="Picture 10" descr="apple_bruise_a_pr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2395728"/>
            <a:ext cx="2240280" cy="2240280"/>
          </a:xfrm>
          <a:prstGeom prst="rect">
            <a:avLst/>
          </a:prstGeom>
        </p:spPr>
      </p:pic>
      <p:pic>
        <p:nvPicPr>
          <p:cNvPr id="12" name="Picture 11" descr="tomato_surface_a_pre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48" y="2395728"/>
            <a:ext cx="2240280" cy="2240280"/>
          </a:xfrm>
          <a:prstGeom prst="rect">
            <a:avLst/>
          </a:prstGeom>
        </p:spPr>
      </p:pic>
      <p:pic>
        <p:nvPicPr>
          <p:cNvPr id="13" name="Picture 12" descr="apple_surface_a_pre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4745736"/>
            <a:ext cx="2240280" cy="2240280"/>
          </a:xfrm>
          <a:prstGeom prst="rect">
            <a:avLst/>
          </a:prstGeom>
        </p:spPr>
      </p:pic>
      <p:pic>
        <p:nvPicPr>
          <p:cNvPr id="14" name="Picture 13" descr="apple_rot_a_pred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8048" y="4745736"/>
            <a:ext cx="224028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Presentation outline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210312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37360"/>
            <a:ext cx="210312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2A900"/>
                </a:solidFill>
                <a:latin typeface="Arial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E2329"/>
                </a:solidFill>
                <a:latin typeface="Arial"/>
              </a:rPr>
              <a:t>Introduction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6352" y="1737360"/>
            <a:ext cx="210312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16352" y="1737360"/>
            <a:ext cx="210312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196596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2A900"/>
                </a:solidFill>
                <a:latin typeface="Arial Black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297180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E2329"/>
                </a:solidFill>
                <a:latin typeface="Arial"/>
              </a:rPr>
              <a:t>Review of Related Literature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4064" y="1737360"/>
            <a:ext cx="210312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84064" y="1737360"/>
            <a:ext cx="210312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66944" y="196596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2A900"/>
                </a:solidFill>
                <a:latin typeface="Arial Black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6944" y="297180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E2329"/>
                </a:solidFill>
                <a:latin typeface="Arial"/>
              </a:rPr>
              <a:t>Methodology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51776" y="1737360"/>
            <a:ext cx="210312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51776" y="1737360"/>
            <a:ext cx="210312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34656" y="196596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2A900"/>
                </a:solidFill>
                <a:latin typeface="Arial Black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34656" y="297180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E2329"/>
                </a:solidFill>
                <a:latin typeface="Arial"/>
              </a:rPr>
              <a:t>Results and Discussion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19488" y="1737360"/>
            <a:ext cx="210312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19488" y="1737360"/>
            <a:ext cx="210312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8" y="196596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2A900"/>
                </a:solidFill>
                <a:latin typeface="Arial Black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8" y="297180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E2329"/>
                </a:solidFill>
                <a:latin typeface="Arial"/>
              </a:rPr>
              <a:t>Conclusion and Recommendations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886200"/>
            <a:ext cx="1783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F6B76"/>
                </a:solidFill>
                <a:latin typeface="Arial"/>
              </a:rPr>
              <a:t>Background, problem, objectives, scope, significance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99232" y="3886200"/>
            <a:ext cx="1783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F6B76"/>
                </a:solidFill>
                <a:latin typeface="Arial"/>
              </a:rPr>
              <a:t>Related studies and the gap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66944" y="3886200"/>
            <a:ext cx="1783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F6B76"/>
                </a:solidFill>
                <a:latin typeface="Arial"/>
              </a:rPr>
              <a:t>Framework, data, annotation, two-stage training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34656" y="3886200"/>
            <a:ext cx="1783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F6B76"/>
                </a:solidFill>
                <a:latin typeface="Arial"/>
              </a:rPr>
              <a:t>Apple, tomato and combined models on unseen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2368" y="3886200"/>
            <a:ext cx="1783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F6B76"/>
                </a:solidFill>
                <a:latin typeface="Arial"/>
              </a:rPr>
              <a:t>Answers to each objective and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19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3657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0" b="1">
                <a:solidFill>
                  <a:srgbClr val="F2A900"/>
                </a:solidFill>
                <a:latin typeface="Arial Black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06240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64008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Background of the study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Statement of the problem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Objectives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Scope and limitations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Significance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1280160"/>
            <a:ext cx="393192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pple_rot_b_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258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01 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Background of the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0350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935">
                <a:solidFill>
                  <a:srgbClr val="A6192E"/>
                </a:solidFill>
                <a:latin typeface="Arial"/>
              </a:rPr>
              <a:t>■  </a:t>
            </a:r>
            <a:r>
              <a:rPr sz="1700" b="0">
                <a:solidFill>
                  <a:srgbClr val="1E2329"/>
                </a:solidFill>
                <a:latin typeface="Arial"/>
              </a:rPr>
              <a:t>Post-harvest sorting depends on visible skin defects such as bruises, rot and cuts</a:t>
            </a:r>
          </a:p>
          <a:p>
            <a:pPr algn="l">
              <a:spcAft>
                <a:spcPts val="1200"/>
              </a:spcAft>
            </a:pPr>
            <a:r>
              <a:rPr sz="935">
                <a:solidFill>
                  <a:srgbClr val="A6192E"/>
                </a:solidFill>
                <a:latin typeface="Arial"/>
              </a:rPr>
              <a:t>■  </a:t>
            </a:r>
            <a:r>
              <a:rPr sz="1700" b="0">
                <a:solidFill>
                  <a:srgbClr val="1E2329"/>
                </a:solidFill>
                <a:latin typeface="Arial"/>
              </a:rPr>
              <a:t>Manual inspection is slow and inconsistent between workers</a:t>
            </a:r>
          </a:p>
          <a:p>
            <a:pPr algn="l">
              <a:spcAft>
                <a:spcPts val="1200"/>
              </a:spcAft>
            </a:pPr>
            <a:r>
              <a:rPr sz="935">
                <a:solidFill>
                  <a:srgbClr val="A6192E"/>
                </a:solidFill>
                <a:latin typeface="Arial"/>
              </a:rPr>
              <a:t>■  </a:t>
            </a:r>
            <a:r>
              <a:rPr sz="1700" b="0">
                <a:solidFill>
                  <a:srgbClr val="1E2329"/>
                </a:solidFill>
                <a:latin typeface="Arial"/>
              </a:rPr>
              <a:t>Public fruit datasets such as AFruitDB label each photo with one quality grade</a:t>
            </a:r>
          </a:p>
          <a:p>
            <a:pPr algn="l">
              <a:spcAft>
                <a:spcPts val="1200"/>
              </a:spcAft>
            </a:pPr>
            <a:r>
              <a:rPr sz="935">
                <a:solidFill>
                  <a:srgbClr val="A6192E"/>
                </a:solidFill>
                <a:latin typeface="Arial"/>
              </a:rPr>
              <a:t>■  </a:t>
            </a:r>
            <a:r>
              <a:rPr sz="1700" b="0">
                <a:solidFill>
                  <a:srgbClr val="1E2329"/>
                </a:solidFill>
                <a:latin typeface="Arial"/>
              </a:rPr>
              <a:t>A grade says how good the fruit is but not where the damage is or how large it is</a:t>
            </a:r>
          </a:p>
          <a:p>
            <a:pPr algn="l">
              <a:spcAft>
                <a:spcPts val="1200"/>
              </a:spcAft>
            </a:pPr>
            <a:r>
              <a:rPr sz="935">
                <a:solidFill>
                  <a:srgbClr val="A6192E"/>
                </a:solidFill>
                <a:latin typeface="Arial"/>
              </a:rPr>
              <a:t>■  </a:t>
            </a:r>
            <a:r>
              <a:rPr sz="1700" b="0">
                <a:solidFill>
                  <a:srgbClr val="1E2329"/>
                </a:solidFill>
                <a:latin typeface="Arial"/>
              </a:rPr>
              <a:t>Instance segmentation outlines each defect at pixel level so its size can be measured</a:t>
            </a:r>
          </a:p>
        </p:txBody>
      </p:sp>
      <p:pic>
        <p:nvPicPr>
          <p:cNvPr id="9" name="Picture 8" descr="apple_bruise_a_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00200"/>
            <a:ext cx="2194560" cy="2194560"/>
          </a:xfrm>
          <a:prstGeom prst="rect">
            <a:avLst/>
          </a:prstGeom>
        </p:spPr>
      </p:pic>
      <p:pic>
        <p:nvPicPr>
          <p:cNvPr id="10" name="Picture 9" descr="tomato_rot_a_ra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00200"/>
            <a:ext cx="2194560" cy="2194560"/>
          </a:xfrm>
          <a:prstGeom prst="rect">
            <a:avLst/>
          </a:prstGeom>
        </p:spPr>
      </p:pic>
      <p:pic>
        <p:nvPicPr>
          <p:cNvPr id="11" name="Picture 10" descr="tomato_surface_a_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3931920"/>
            <a:ext cx="2194560" cy="2194560"/>
          </a:xfrm>
          <a:prstGeom prst="rect">
            <a:avLst/>
          </a:prstGeom>
        </p:spPr>
      </p:pic>
      <p:pic>
        <p:nvPicPr>
          <p:cNvPr id="12" name="Picture 11" descr="apple_surface_a_ra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01 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Statement of 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pic>
        <p:nvPicPr>
          <p:cNvPr id="8" name="Picture 7" descr="apple_rot_b_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2651760" cy="2651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34340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A6192E"/>
                </a:solidFill>
                <a:latin typeface="Arial"/>
              </a:rPr>
              <a:t>What public data gives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6344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F6B76"/>
                </a:solidFill>
                <a:latin typeface="Arial"/>
              </a:rPr>
              <a:t>One grade for the whole photo</a:t>
            </a:r>
          </a:p>
        </p:txBody>
      </p:sp>
      <p:pic>
        <p:nvPicPr>
          <p:cNvPr id="11" name="Picture 10" descr="apple_rot_b_p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600200"/>
            <a:ext cx="2651760" cy="2651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29000" y="434340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A6192E"/>
                </a:solidFill>
                <a:latin typeface="Arial"/>
              </a:rPr>
              <a:t>What sorting needs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66344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F6B76"/>
                </a:solidFill>
                <a:latin typeface="Arial"/>
              </a:rPr>
              <a:t>Pixels of each defect and its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A6192E"/>
                </a:solidFill>
                <a:latin typeface="Arial"/>
              </a:rPr>
              <a:t>This study answers</a:t>
            </a:r>
          </a:p>
        </p:txBody>
      </p:sp>
      <p:sp>
        <p:nvSpPr>
          <p:cNvPr id="15" name="Oval 14"/>
          <p:cNvSpPr/>
          <p:nvPr/>
        </p:nvSpPr>
        <p:spPr>
          <a:xfrm>
            <a:off x="6492240" y="2011680"/>
            <a:ext cx="457200" cy="457200"/>
          </a:xfrm>
          <a:prstGeom prst="ellipse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011680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1975104"/>
            <a:ext cx="45720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329"/>
                </a:solidFill>
                <a:latin typeface="Arial"/>
              </a:rPr>
              <a:t>How accurately can a two-stage YOLO26 model segment visible defects on apple and tomato?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880360"/>
            <a:ext cx="457200" cy="457200"/>
          </a:xfrm>
          <a:prstGeom prst="ellipse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880360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843784"/>
            <a:ext cx="45720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329"/>
                </a:solidFill>
                <a:latin typeface="Arial"/>
              </a:rPr>
              <a:t>Which defect classes are hardest to segment and why?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3749040"/>
            <a:ext cx="457200" cy="457200"/>
          </a:xfrm>
          <a:prstGeom prst="ellipse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49040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712464"/>
            <a:ext cx="45720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329"/>
                </a:solidFill>
                <a:latin typeface="Arial"/>
              </a:rPr>
              <a:t>How closely does the predicted damaged share match the team labels?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4617720"/>
            <a:ext cx="457200" cy="457200"/>
          </a:xfrm>
          <a:prstGeom prst="ellipse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617720"/>
            <a:ext cx="4572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581144"/>
            <a:ext cx="45720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329"/>
                </a:solidFill>
                <a:latin typeface="Arial"/>
              </a:rPr>
              <a:t>Can one combined model replace two separate per-fruit models?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01 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Objectives of the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1155680" cy="1097280"/>
          </a:xfrm>
          <a:prstGeom prst="roundRect">
            <a:avLst>
              <a:gd name="adj" fmla="val 4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27632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F2A900"/>
                </a:solidFill>
                <a:latin typeface="Arial"/>
              </a:rPr>
              <a:t>GENERAL 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0195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Develop a two-stage YOLO26 instance segmentation model that outlines visible post-harvest surface defects on apple and tomato and measures how much of the fruit they cover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21031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06324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2A900"/>
                </a:solidFill>
                <a:latin typeface="Arial"/>
              </a:rPr>
              <a:t>SO1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38328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A6192E"/>
                </a:solidFill>
                <a:latin typeface="Arial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886200"/>
            <a:ext cx="178308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329"/>
                </a:solidFill>
                <a:latin typeface="Arial"/>
              </a:rPr>
              <a:t>Reviewed pixel masks for three defect classes with capture-group splits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2926080"/>
            <a:ext cx="21031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306324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2A900"/>
                </a:solidFill>
                <a:latin typeface="Arial"/>
              </a:rPr>
              <a:t>SO2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80944" y="338328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A6192E"/>
                </a:solidFill>
                <a:latin typeface="Arial"/>
              </a:rPr>
              <a:t>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3886200"/>
            <a:ext cx="178308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329"/>
                </a:solidFill>
                <a:latin typeface="Arial"/>
              </a:rPr>
              <a:t>Stage 1 whole fruit, then Stage 2 defects from Stage 1 weights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4064" y="2926080"/>
            <a:ext cx="21031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8656" y="306324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2A900"/>
                </a:solidFill>
                <a:latin typeface="Arial"/>
              </a:rPr>
              <a:t>SO3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8656" y="338328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A6192E"/>
                </a:solidFill>
                <a:latin typeface="Arial"/>
              </a:rPr>
              <a:t>Evaluate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8656" y="3886200"/>
            <a:ext cx="178308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329"/>
                </a:solidFill>
                <a:latin typeface="Arial"/>
              </a:rPr>
              <a:t>Mask precision, recall, mAP, pixel IoU and coverage on an untouched test set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51776" y="2926080"/>
            <a:ext cx="21031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306324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2A900"/>
                </a:solidFill>
                <a:latin typeface="Arial"/>
              </a:rPr>
              <a:t>SO4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8" y="338328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A6192E"/>
                </a:solidFill>
                <a:latin typeface="Arial"/>
              </a:rPr>
              <a:t>Compare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8" y="3886200"/>
            <a:ext cx="178308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329"/>
                </a:solidFill>
                <a:latin typeface="Arial"/>
              </a:rPr>
              <a:t>Separate per-fruit models against one combined apple and tomato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19488" y="2926080"/>
            <a:ext cx="21031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0" y="306324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2A900"/>
                </a:solidFill>
                <a:latin typeface="Arial"/>
              </a:rPr>
              <a:t>SO5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338328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A6192E"/>
                </a:solidFill>
                <a:latin typeface="Arial"/>
              </a:rPr>
              <a:t>Deploy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886200"/>
            <a:ext cx="178308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329"/>
                </a:solidFill>
                <a:latin typeface="Arial"/>
              </a:rPr>
              <a:t>A Streamlit app that marks defects and reports the damaged share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01 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Scope and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4864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548640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A6192E"/>
                </a:solidFill>
                <a:latin typeface="Arial"/>
              </a:rPr>
              <a:t>Covered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493776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Apple and tomato RGB photos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Three visible defect classes: bruise or discoloration, rot mold or decay, surface damage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Whole-fruit mask used to compute damaged share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Unseen test evaluation and a web app for single images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00200"/>
            <a:ext cx="54864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600200"/>
            <a:ext cx="5486400" cy="73152"/>
          </a:xfrm>
          <a:prstGeom prst="rect">
            <a:avLst/>
          </a:prstGeom>
          <a:solidFill>
            <a:srgbClr val="5F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5F6B76"/>
                </a:solidFill>
                <a:latin typeface="Arial"/>
              </a:rPr>
              <a:t>Not covered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377440"/>
            <a:ext cx="493776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Disease diagnosis or internal damage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Other fruits in AFruitDB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Real-time conveyor or video sorting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Shadows, glare, stems, natural speckles and normal ripening color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01 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Significance of the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35661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1920240"/>
            <a:ext cx="685800" cy="685800"/>
          </a:xfrm>
          <a:prstGeom prst="ellipse">
            <a:avLst/>
          </a:prstGeom>
          <a:solidFill>
            <a:srgbClr val="F8E9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A619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A6192E"/>
                </a:solidFill>
                <a:latin typeface="Arial"/>
              </a:rPr>
              <a:t>Packers and sorters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301752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2329"/>
                </a:solidFill>
                <a:latin typeface="Arial"/>
              </a:rPr>
              <a:t>See where damage is and how much of the fruit it covers instead of one grade per photo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1645920"/>
            <a:ext cx="35661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1920240"/>
            <a:ext cx="685800" cy="685800"/>
          </a:xfrm>
          <a:prstGeom prst="ellipse">
            <a:avLst/>
          </a:prstGeom>
          <a:solidFill>
            <a:srgbClr val="F8E9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1920240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A6192E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283464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A6192E"/>
                </a:solidFill>
                <a:latin typeface="Arial"/>
              </a:rPr>
              <a:t>Researchers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3383280"/>
            <a:ext cx="301752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2329"/>
                </a:solidFill>
                <a:latin typeface="Arial"/>
              </a:rPr>
              <a:t>Reviewed pixel masks added on top of a public grading set plus a full record of 24 training runs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4" y="1645920"/>
            <a:ext cx="35661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75904" y="1920240"/>
            <a:ext cx="685800" cy="685800"/>
          </a:xfrm>
          <a:prstGeom prst="ellipse">
            <a:avLst/>
          </a:prstGeom>
          <a:solidFill>
            <a:srgbClr val="F8E9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920240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A6192E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83464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A6192E"/>
                </a:solidFill>
                <a:latin typeface="Arial"/>
              </a:rPr>
              <a:t>Future students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3383280"/>
            <a:ext cx="301752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2329"/>
                </a:solidFill>
                <a:latin typeface="Arial"/>
              </a:rPr>
              <a:t>A reproducible notebook, frozen splits and a working app to build 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19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3657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0" b="1">
                <a:solidFill>
                  <a:srgbClr val="F2A900"/>
                </a:solidFill>
                <a:latin typeface="Arial Black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Review of Related Literature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06240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64008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Models and reported scores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Why instance segmentation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1280160"/>
            <a:ext cx="393192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omato_rot_a_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258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02   REVIEW OF RELATED 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Related studies: models and reported scores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54480"/>
          <a:ext cx="111556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286000"/>
                <a:gridCol w="2103120"/>
                <a:gridCol w="1188720"/>
                <a:gridCol w="34747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Study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Fruit first?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Reported score (their own data)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Leiva et al. 2026 [5]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Apple scab lesions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YOLO11-seg, 864 px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Lesion mAP50 0.75, fruit mAP50 0.94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Tan et al. 2025 [6]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Blueberry internal bruise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YOLOv8 + YOLO11 seg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Bruise mAP50 0.940, fruit 0.995 (test)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Agarla et al. 2023 [3]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Apple skin defects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U-shaped CNN, RGB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Pixel F-score 0.794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Knott et al. 2025 [4]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Banana bruises and scars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MaskFormer panoptic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PQ about 78% (5-fold CV)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E0F1D"/>
                          </a:solidFill>
                          <a:latin typeface="Arial"/>
                        </a:rPr>
                        <a:t>This study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6E0F1D"/>
                          </a:solidFill>
                          <a:latin typeface="Arial"/>
                        </a:rPr>
                        <a:t>Apple and tomato, 3 classes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6E0F1D"/>
                          </a:solidFill>
                          <a:latin typeface="Arial"/>
                        </a:rPr>
                        <a:t>YOLO26l-seg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6E0F1D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6E0F1D"/>
                          </a:solidFill>
                          <a:latin typeface="Arial"/>
                        </a:rPr>
                        <a:t>Test mAP50 0.613 apple, 0.393 tomato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166360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Closest to ours: Leiva and Tan, who also segment the fruit first and the damage second</a:t>
            </a:r>
          </a:p>
          <a:p>
            <a:pPr algn="l">
              <a:spcAft>
                <a:spcPts val="6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Their targets are one damage type on one fruit. Ours covers three classes on two fruits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02   REVIEW OF RELATED 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Why instance segmentation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66160" cy="4617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le_rot_b_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737360"/>
            <a:ext cx="2743200" cy="2743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97280" y="1874519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1E23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874519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Label: damaged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1E2329"/>
                </a:solidFill>
                <a:latin typeface="Arial"/>
              </a:rPr>
              <a:t>Classification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74920"/>
            <a:ext cx="30632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F6B76"/>
                </a:solidFill>
                <a:latin typeface="Arial"/>
              </a:rPr>
              <a:t>One label per image. Says damaged but not where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554480"/>
            <a:ext cx="3566160" cy="4617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pple_rot_b_bo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1737360"/>
            <a:ext cx="2743200" cy="2743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99432" y="46177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1E2329"/>
                </a:solidFill>
                <a:latin typeface="Arial"/>
              </a:rPr>
              <a:t>Detection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5074920"/>
            <a:ext cx="30632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F6B76"/>
                </a:solidFill>
                <a:latin typeface="Arial"/>
              </a:rPr>
              <a:t>One box per object. The box still covers healthy skin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4" y="1554480"/>
            <a:ext cx="3566160" cy="4617720"/>
          </a:xfrm>
          <a:prstGeom prst="roundRect">
            <a:avLst>
              <a:gd name="adj" fmla="val 4000"/>
            </a:avLst>
          </a:prstGeom>
          <a:solidFill>
            <a:srgbClr val="F8E9EA"/>
          </a:solidFill>
          <a:ln w="12700">
            <a:solidFill>
              <a:srgbClr val="A619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pple_rot_b_pr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1737360"/>
            <a:ext cx="2743200" cy="2743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75904" y="46177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A6192E"/>
                </a:solidFill>
                <a:latin typeface="Arial"/>
              </a:rPr>
              <a:t>Instance segmentation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5074920"/>
            <a:ext cx="30632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F6B76"/>
                </a:solidFill>
                <a:latin typeface="Arial"/>
              </a:rPr>
              <a:t>One mask per object. Exact defect pixels so area can be measured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19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3657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0" b="1">
                <a:solidFill>
                  <a:srgbClr val="F2A900"/>
                </a:solidFill>
                <a:latin typeface="Arial Black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06240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64008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Conceptual framework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Dataset and annotation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Splits and leakage control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Two-stage training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Run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1280160"/>
            <a:ext cx="393192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pple_rot_a_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258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03 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Conceptual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342900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3429000" cy="548640"/>
          </a:xfrm>
          <a:prstGeom prst="roundRect">
            <a:avLst>
              <a:gd name="adj" fmla="val 15000"/>
            </a:avLst>
          </a:prstGeom>
          <a:solidFill>
            <a:srgbClr val="1E23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34290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301752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AFruitDB apple and tomato photos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Lab2Wild apple rot photos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Team photos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Team-drawn polygon masks</a:t>
            </a:r>
          </a:p>
        </p:txBody>
      </p:sp>
      <p:sp>
        <p:nvSpPr>
          <p:cNvPr id="12" name="Chevron 11"/>
          <p:cNvSpPr/>
          <p:nvPr/>
        </p:nvSpPr>
        <p:spPr>
          <a:xfrm>
            <a:off x="4050792" y="3108960"/>
            <a:ext cx="274320" cy="411480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1600200"/>
            <a:ext cx="342900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619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1600200"/>
            <a:ext cx="3429000" cy="548640"/>
          </a:xfrm>
          <a:prstGeom prst="roundRect">
            <a:avLst>
              <a:gd name="adj" fmla="val 15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600200"/>
            <a:ext cx="34290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377440"/>
            <a:ext cx="301752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Split by capture group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Stage 1: whole-fruit training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Stage 2: defect training from Stage 1 weights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Checkpoint picked on validation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One-time test evaluation</a:t>
            </a:r>
          </a:p>
        </p:txBody>
      </p:sp>
      <p:sp>
        <p:nvSpPr>
          <p:cNvPr id="17" name="Chevron 16"/>
          <p:cNvSpPr/>
          <p:nvPr/>
        </p:nvSpPr>
        <p:spPr>
          <a:xfrm>
            <a:off x="7891272" y="3108960"/>
            <a:ext cx="274320" cy="411480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0" y="1600200"/>
            <a:ext cx="342900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1600200"/>
            <a:ext cx="3429000" cy="548640"/>
          </a:xfrm>
          <a:prstGeom prst="roundRect">
            <a:avLst>
              <a:gd name="adj" fmla="val 15000"/>
            </a:avLst>
          </a:prstGeom>
          <a:solidFill>
            <a:srgbClr val="1E23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600200"/>
            <a:ext cx="34290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377440"/>
            <a:ext cx="301752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Fruit and defect masks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Damaged share of the fruit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Mask metrics on unseen test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Streamlit web app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03 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Dataset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265176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A6192E"/>
                </a:solidFill>
                <a:latin typeface="Arial"/>
              </a:rPr>
              <a:t>2,110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E2329"/>
                </a:solidFill>
                <a:latin typeface="Arial"/>
              </a:rPr>
              <a:t>Apple training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726 capture groups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6002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600200"/>
            <a:ext cx="265176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78308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A6192E"/>
                </a:solidFill>
                <a:latin typeface="Arial"/>
              </a:rPr>
              <a:t>1,313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4688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E2329"/>
                </a:solidFill>
                <a:latin typeface="Arial"/>
              </a:rPr>
              <a:t>Tomato training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770632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459 capture groups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347472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Train files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Owner or license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AFruitDB apple [1]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986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Mendeley Data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Lab2Wild apple rot [8]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CC BY-NC-SA 4.0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Team apple photos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CIPHER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AFruitDB tomato [1]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1,313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Mendeley Data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492240" y="1600200"/>
            <a:ext cx="521208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AFruitDB grades are image labels only and were not used as targets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Every pixel mask was drawn and reviewed by the team in Roboflow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Roboflow exports up to 3 augmented variants per photo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So file counts are not counts of distinct photos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Each defect class has more than 300 training images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03 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Three visible defect classes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6616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3566160" cy="7315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pple_bruise_a_p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1737360" cy="1737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06040" y="178308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Apple train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5740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69F00"/>
                </a:solidFill>
                <a:latin typeface="Arial"/>
              </a:rPr>
              <a:t>607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60604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88036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E2329"/>
                </a:solidFill>
                <a:latin typeface="Arial"/>
              </a:rPr>
              <a:t>709 masks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033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E2329"/>
                </a:solidFill>
                <a:latin typeface="Arial"/>
              </a:rPr>
              <a:t>bruise_discoloration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60520"/>
            <a:ext cx="32004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5F6B76"/>
                </a:solidFill>
                <a:latin typeface="Arial"/>
              </a:rPr>
              <a:t>Smooth dark or discolored patch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5112" y="1554480"/>
            <a:ext cx="356616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5112" y="1554480"/>
            <a:ext cx="3566160" cy="73152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omato_rot_a_p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783080"/>
            <a:ext cx="1737360" cy="17373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82512" y="178308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Apple 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05740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CC79A7"/>
                </a:solidFill>
                <a:latin typeface="Arial"/>
              </a:rPr>
              <a:t>620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60604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images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288036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E2329"/>
                </a:solidFill>
                <a:latin typeface="Arial"/>
              </a:rPr>
              <a:t>697 masks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37033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E2329"/>
                </a:solidFill>
                <a:latin typeface="Arial"/>
              </a:rPr>
              <a:t>rot_mold_decay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4160520"/>
            <a:ext cx="32004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5F6B76"/>
                </a:solidFill>
                <a:latin typeface="Arial"/>
              </a:rPr>
              <a:t>Soft collapsed or moldy tissue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01584" y="1554480"/>
            <a:ext cx="356616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01584" y="1554480"/>
            <a:ext cx="3566160" cy="73152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tomato_surface_a_pr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464" y="1783080"/>
            <a:ext cx="1737360" cy="17373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58984" y="178308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Apple train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58984" y="205740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72B2"/>
                </a:solidFill>
                <a:latin typeface="Arial"/>
              </a:rPr>
              <a:t>547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58984" y="260604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images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8984" y="288036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E2329"/>
                </a:solidFill>
                <a:latin typeface="Arial"/>
              </a:rPr>
              <a:t>873 masks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37033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E2329"/>
                </a:solidFill>
                <a:latin typeface="Arial"/>
              </a:rPr>
              <a:t>surface_damage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4160520"/>
            <a:ext cx="32004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5F6B76"/>
                </a:solidFill>
                <a:latin typeface="Arial"/>
              </a:rPr>
              <a:t>Cut, crack, scar or dry spot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03 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Gallery of labeled defects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7774" y="1417320"/>
            <a:ext cx="4811012" cy="4892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fect_gall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502" y="1527048"/>
            <a:ext cx="4591556" cy="467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0" y="1645920"/>
            <a:ext cx="512064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Real team labels from the training data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Green outline is the whole fruit used by Stage 1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Filled regions are the defect masks used by Stage 2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Tomato and surface defects are often very small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Excluded: shadows, glare, stems, speckles and normal ripening color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03 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Defect size explains much of the difficulty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53256"/>
            <a:ext cx="11247120" cy="344292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62984"/>
            <a:ext cx="11027664" cy="32234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Median defect size: apple rot 48% of the fruit, tomato rot 3.5%, surface damage under 0.5% on both fruits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03 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Splits and leakage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5760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55448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Apple split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Images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Capture groups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Use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Train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2,110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Learning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Checkpoint choice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Final check once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Reserve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Never used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675120" y="1600200"/>
            <a:ext cx="502920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A capture group is every file from the same original photo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Groups never cross splits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Exact pixel hashes checked across splits: no exact copies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Augmentation only on training images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Tomato uses the same rules: 1,313 / 132 / 95 / 39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Test set frozen before training and evaluated once at the 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03 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Project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94132"/>
            <a:ext cx="11247120" cy="25098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03860"/>
            <a:ext cx="11027664" cy="22903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03 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Two-stage method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1938528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E2329"/>
                </a:solidFill>
                <a:latin typeface="Arial"/>
              </a:rPr>
              <a:t>Pretrained</a:t>
            </a:r>
          </a:p>
          <a:p>
            <a:pPr algn="ctr"/>
            <a:r>
              <a:rPr sz="1200" b="0">
                <a:solidFill>
                  <a:srgbClr val="5F6B76"/>
                </a:solidFill>
                <a:latin typeface="Arial"/>
              </a:rPr>
              <a:t>YOLO26l-seg</a:t>
            </a:r>
          </a:p>
        </p:txBody>
      </p:sp>
      <p:sp>
        <p:nvSpPr>
          <p:cNvPr id="9" name="Chevron 8"/>
          <p:cNvSpPr/>
          <p:nvPr/>
        </p:nvSpPr>
        <p:spPr>
          <a:xfrm>
            <a:off x="2560320" y="2180844"/>
            <a:ext cx="219456" cy="256032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52928" y="1737360"/>
            <a:ext cx="1938528" cy="1143000"/>
          </a:xfrm>
          <a:prstGeom prst="roundRect">
            <a:avLst>
              <a:gd name="adj" fmla="val 12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Stage 1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whole fruit mask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4608" y="2180844"/>
            <a:ext cx="219456" cy="256032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57216" y="1737360"/>
            <a:ext cx="1938528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E2329"/>
                </a:solidFill>
                <a:latin typeface="Arial"/>
              </a:rPr>
              <a:t>Stage 1</a:t>
            </a:r>
          </a:p>
          <a:p>
            <a:pPr algn="ctr"/>
            <a:r>
              <a:rPr sz="1200" b="0">
                <a:solidFill>
                  <a:srgbClr val="5F6B76"/>
                </a:solidFill>
                <a:latin typeface="Arial"/>
              </a:rPr>
              <a:t>best.pt</a:t>
            </a:r>
          </a:p>
        </p:txBody>
      </p:sp>
      <p:sp>
        <p:nvSpPr>
          <p:cNvPr id="13" name="Chevron 12"/>
          <p:cNvSpPr/>
          <p:nvPr/>
        </p:nvSpPr>
        <p:spPr>
          <a:xfrm>
            <a:off x="7168896" y="2180844"/>
            <a:ext cx="219456" cy="256032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61504" y="1737360"/>
            <a:ext cx="1938528" cy="1143000"/>
          </a:xfrm>
          <a:prstGeom prst="roundRect">
            <a:avLst>
              <a:gd name="adj" fmla="val 12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Stage 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3 defect classes</a:t>
            </a:r>
          </a:p>
        </p:txBody>
      </p:sp>
      <p:sp>
        <p:nvSpPr>
          <p:cNvPr id="15" name="Chevron 14"/>
          <p:cNvSpPr/>
          <p:nvPr/>
        </p:nvSpPr>
        <p:spPr>
          <a:xfrm>
            <a:off x="9473184" y="2180844"/>
            <a:ext cx="219456" cy="256032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65792" y="1737360"/>
            <a:ext cx="1938528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E2329"/>
                </a:solidFill>
                <a:latin typeface="Arial"/>
              </a:rPr>
              <a:t>Web app</a:t>
            </a:r>
          </a:p>
          <a:p>
            <a:pPr algn="ctr"/>
            <a:r>
              <a:rPr sz="1200" b="0">
                <a:solidFill>
                  <a:srgbClr val="5F6B76"/>
                </a:solidFill>
                <a:latin typeface="Arial"/>
              </a:rPr>
              <a:t>fruit + defects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46120"/>
            <a:ext cx="111556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Stage 1 learns what the fruit looks like on every training image, damaged or not</a:t>
            </a:r>
          </a:p>
          <a:p>
            <a:pPr algn="l">
              <a:spcAft>
                <a:spcPts val="10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Stage 2 starts from Stage 1 weights, rebuilds the output head for 3 defects and uses a new AdamW optimizer</a:t>
            </a:r>
          </a:p>
          <a:p>
            <a:pPr algn="l">
              <a:spcAft>
                <a:spcPts val="10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Shared backbone and neck weights carry over so Stage 2 does not start from scratch</a:t>
            </a:r>
          </a:p>
          <a:p>
            <a:pPr algn="l">
              <a:spcAft>
                <a:spcPts val="10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In the app Stage 1 also gives the fruit area used for the damaged share</a:t>
            </a:r>
          </a:p>
          <a:p>
            <a:pPr algn="l">
              <a:spcAft>
                <a:spcPts val="10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Adapted from Leiva et al. [5], who trained YOLO11 on the fruit first and the disease second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03 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Two stages in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33347" y="1417320"/>
            <a:ext cx="8894826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wo_stage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075" y="1527048"/>
            <a:ext cx="8675370" cy="46268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03 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Training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7132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Setting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Stage 1 (Run 21)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Stage 2 (Run 22)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Start weights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yolo26l-seg.pt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Run 21 best.pt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Classes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apple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3 defects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Optimizer / lr0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SGD / 0.001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AdamW / 0.0005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Max epochs / patience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100 / 10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300 / 30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Image size / batch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864 / 56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864 / 56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Schedule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cosine, 3 warmup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cosine, 3 warmup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Epochs run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40680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Augmentation: flips, small rotation, scale and color. No Mosaic, MixUp or Copy-Paste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00200"/>
            <a:ext cx="36576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00200"/>
            <a:ext cx="73152" cy="10972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91640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A6192E"/>
                </a:solidFill>
                <a:latin typeface="Arial"/>
              </a:rPr>
              <a:t>A100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221992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F6B76"/>
                </a:solidFill>
                <a:latin typeface="Arial"/>
              </a:rPr>
              <a:t>80 GB GPU on Colab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880360"/>
            <a:ext cx="36576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880360"/>
            <a:ext cx="73152" cy="10972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971800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A6192E"/>
                </a:solidFill>
                <a:latin typeface="Arial"/>
              </a:rPr>
              <a:t>8.4.126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502152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F6B76"/>
                </a:solidFill>
                <a:latin typeface="Arial"/>
              </a:rPr>
              <a:t>Ultralytics version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160520"/>
            <a:ext cx="36576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4160520"/>
            <a:ext cx="73152" cy="10972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4251960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A6192E"/>
                </a:solidFill>
                <a:latin typeface="Arial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782312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F6B76"/>
                </a:solidFill>
                <a:latin typeface="Arial"/>
              </a:rPr>
              <a:t>Fixed seed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03 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Run history: 24 runs from pilot to final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11757"/>
            <a:ext cx="6949440" cy="42574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un_history_map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1485"/>
            <a:ext cx="6729984" cy="40379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79" y="1600200"/>
            <a:ext cx="42062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First pilot: 0.474 mAP50 on 252 images</a:t>
            </a:r>
          </a:p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Merged classes, more data and a larger model each helped</a:t>
            </a:r>
          </a:p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Early joint runs looked high because whole-fruit classes are easy</a:t>
            </a:r>
          </a:p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Final runs report the three defect classes only</a:t>
            </a:r>
          </a:p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Runs on different datasets are a project record, not a controlled comparison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03 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What changed between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11155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926080"/>
                <a:gridCol w="822960"/>
                <a:gridCol w="2834640"/>
                <a:gridCol w="1463040"/>
                <a:gridCol w="21945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mAP50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mAP50-95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P1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Apple 5 classes, 252 train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26n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First pilot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0.474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0.310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Apple + 1 merged defect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26n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Merged defects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0.751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0.523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Apple mango tomato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26s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Three fruits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0.683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0.526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Run 5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Apple tomato + members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26s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Member photos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0.747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0.622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Run 11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Apple tomato 3,423 train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26m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Bigger set and model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0.715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0.598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Run 14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Apple 4 classes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26m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Apple only, single stage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0.714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0.558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Run 20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Apple defects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26m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Two-stage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0.671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0.450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6E0F1D"/>
                          </a:solidFill>
                          <a:latin typeface="Arial"/>
                        </a:rPr>
                        <a:t>Run 22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6E0F1D"/>
                          </a:solidFill>
                          <a:latin typeface="Arial"/>
                        </a:rPr>
                        <a:t>Apple defects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6E0F1D"/>
                          </a:solidFill>
                          <a:latin typeface="Arial"/>
                        </a:rPr>
                        <a:t>26l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6E0F1D"/>
                          </a:solidFill>
                          <a:latin typeface="Arial"/>
                        </a:rPr>
                        <a:t>Two-stage, large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6E0F1D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6E0F1D"/>
                          </a:solidFill>
                          <a:latin typeface="Arial"/>
                        </a:rPr>
                        <a:t>0.457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Run 24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Tomato defects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26l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Two-stage, tomato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0.494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0.295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Run 26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Apple + tomato defects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26l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One model, both fruits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0.600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0.374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19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3657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0" b="1">
                <a:solidFill>
                  <a:srgbClr val="F2A900"/>
                </a:solidFill>
                <a:latin typeface="Arial Black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Results and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06240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64008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Results at a glance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Apple Stage 1 and Stage 2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Unseen test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Tomato and combined models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Examples and failure cases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Web 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1280160"/>
            <a:ext cx="393192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omato_surface_a_p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258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Results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265176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A6192E"/>
                </a:solidFill>
                <a:latin typeface="Arial"/>
              </a:rPr>
              <a:t>0.985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E2329"/>
                </a:solidFill>
                <a:latin typeface="Arial"/>
              </a:rPr>
              <a:t>Stage 1 whole apple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Validation mask mAP50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6002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600200"/>
            <a:ext cx="265176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78308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A6192E"/>
                </a:solidFill>
                <a:latin typeface="Arial"/>
              </a:rPr>
              <a:t>0.613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4688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E2329"/>
                </a:solidFill>
                <a:latin typeface="Arial"/>
              </a:rPr>
              <a:t>Apple defects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770632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Unseen test mask mAP50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6002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600200"/>
            <a:ext cx="2651760" cy="73152"/>
          </a:xfrm>
          <a:prstGeom prst="rect">
            <a:avLst/>
          </a:prstGeom>
          <a:solidFill>
            <a:srgbClr val="5F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78308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F6B76"/>
                </a:solidFill>
                <a:latin typeface="Arial"/>
              </a:rPr>
              <a:t>0.393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4688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E2329"/>
                </a:solidFill>
                <a:latin typeface="Arial"/>
              </a:rPr>
              <a:t>Tomato defects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770632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Unseen test mask mAP50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2560" y="1600200"/>
            <a:ext cx="26517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560" y="1600200"/>
            <a:ext cx="2651760" cy="7315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2A900"/>
                </a:solidFill>
                <a:latin typeface="Arial"/>
              </a:rPr>
              <a:t>0.91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4688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E2329"/>
                </a:solidFill>
                <a:latin typeface="Arial"/>
              </a:rPr>
              <a:t>Apple coverage 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770632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Tomato 0.82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520440"/>
            <a:ext cx="1115568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Rot is the most stable class on apple: 0.732 test mAP50</a:t>
            </a:r>
          </a:p>
          <a:p>
            <a:pPr algn="l">
              <a:spcAft>
                <a:spcPts val="6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Surface damage is the hardest: 0.511 on apple</a:t>
            </a:r>
          </a:p>
          <a:p>
            <a:pPr algn="l">
              <a:spcAft>
                <a:spcPts val="6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Tomato precision is fine at 0.732 but recall is only 0.375</a:t>
            </a:r>
          </a:p>
          <a:p>
            <a:pPr algn="l">
              <a:spcAft>
                <a:spcPts val="6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One combined model scored 0.586 apple and 0.352 tomato on test</a:t>
            </a:r>
          </a:p>
        </p:txBody>
      </p:sp>
      <p:pic>
        <p:nvPicPr>
          <p:cNvPr id="29" name="Picture 28" descr="apple_rot_b_pred.jpg"/>
          <p:cNvPicPr>
            <a:picLocks noChangeAspect="1"/>
          </p:cNvPicPr>
          <p:nvPr/>
        </p:nvPicPr>
        <p:blipFill>
          <a:blip r:embed="rId2"/>
          <a:srcRect t="11842" b="11842"/>
          <a:stretch>
            <a:fillRect/>
          </a:stretch>
        </p:blipFill>
        <p:spPr>
          <a:xfrm>
            <a:off x="548640" y="4892040"/>
            <a:ext cx="1737360" cy="1325880"/>
          </a:xfrm>
          <a:prstGeom prst="rect">
            <a:avLst/>
          </a:prstGeom>
        </p:spPr>
      </p:pic>
      <p:pic>
        <p:nvPicPr>
          <p:cNvPr id="30" name="Picture 29" descr="apple_bruise_a_pred.jpg"/>
          <p:cNvPicPr>
            <a:picLocks noChangeAspect="1"/>
          </p:cNvPicPr>
          <p:nvPr/>
        </p:nvPicPr>
        <p:blipFill>
          <a:blip r:embed="rId3"/>
          <a:srcRect t="11842" b="11842"/>
          <a:stretch>
            <a:fillRect/>
          </a:stretch>
        </p:blipFill>
        <p:spPr>
          <a:xfrm>
            <a:off x="2432304" y="4892040"/>
            <a:ext cx="1737360" cy="1325880"/>
          </a:xfrm>
          <a:prstGeom prst="rect">
            <a:avLst/>
          </a:prstGeom>
        </p:spPr>
      </p:pic>
      <p:pic>
        <p:nvPicPr>
          <p:cNvPr id="31" name="Picture 30" descr="apple_surface_a_pred.jpg"/>
          <p:cNvPicPr>
            <a:picLocks noChangeAspect="1"/>
          </p:cNvPicPr>
          <p:nvPr/>
        </p:nvPicPr>
        <p:blipFill>
          <a:blip r:embed="rId4"/>
          <a:srcRect t="11842" b="11842"/>
          <a:stretch>
            <a:fillRect/>
          </a:stretch>
        </p:blipFill>
        <p:spPr>
          <a:xfrm>
            <a:off x="4315968" y="4892040"/>
            <a:ext cx="1737360" cy="1325880"/>
          </a:xfrm>
          <a:prstGeom prst="rect">
            <a:avLst/>
          </a:prstGeom>
        </p:spPr>
      </p:pic>
      <p:pic>
        <p:nvPicPr>
          <p:cNvPr id="32" name="Picture 31" descr="tomato_rot_a_pred.jpg"/>
          <p:cNvPicPr>
            <a:picLocks noChangeAspect="1"/>
          </p:cNvPicPr>
          <p:nvPr/>
        </p:nvPicPr>
        <p:blipFill>
          <a:blip r:embed="rId5"/>
          <a:srcRect t="11842" b="11842"/>
          <a:stretch>
            <a:fillRect/>
          </a:stretch>
        </p:blipFill>
        <p:spPr>
          <a:xfrm>
            <a:off x="6199632" y="4892040"/>
            <a:ext cx="1737360" cy="1325880"/>
          </a:xfrm>
          <a:prstGeom prst="rect">
            <a:avLst/>
          </a:prstGeom>
        </p:spPr>
      </p:pic>
      <p:pic>
        <p:nvPicPr>
          <p:cNvPr id="33" name="Picture 32" descr="tomato_surface_a_pred.jpg"/>
          <p:cNvPicPr>
            <a:picLocks noChangeAspect="1"/>
          </p:cNvPicPr>
          <p:nvPr/>
        </p:nvPicPr>
        <p:blipFill>
          <a:blip r:embed="rId6"/>
          <a:srcRect t="11842" b="11842"/>
          <a:stretch>
            <a:fillRect/>
          </a:stretch>
        </p:blipFill>
        <p:spPr>
          <a:xfrm>
            <a:off x="8083296" y="4892040"/>
            <a:ext cx="1737360" cy="1325880"/>
          </a:xfrm>
          <a:prstGeom prst="rect">
            <a:avLst/>
          </a:prstGeom>
        </p:spPr>
      </p:pic>
      <p:pic>
        <p:nvPicPr>
          <p:cNvPr id="34" name="Picture 33" descr="apple_rot_a_pred.jpg"/>
          <p:cNvPicPr>
            <a:picLocks noChangeAspect="1"/>
          </p:cNvPicPr>
          <p:nvPr/>
        </p:nvPicPr>
        <p:blipFill>
          <a:blip r:embed="rId7"/>
          <a:srcRect t="11842" b="11842"/>
          <a:stretch>
            <a:fillRect/>
          </a:stretch>
        </p:blipFill>
        <p:spPr>
          <a:xfrm>
            <a:off x="9966960" y="4892040"/>
            <a:ext cx="173736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Same data, defects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1485"/>
            <a:ext cx="6583680" cy="403799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fec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31213"/>
            <a:ext cx="6364224" cy="38185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0" y="1645920"/>
            <a:ext cx="43891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Runs 14, 20 and 22 use the same images and splits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Average defect mAP50 rose from 0.624 to 0.688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These runs also differ in model size, optimizer and image size</a:t>
            </a:r>
          </a:p>
          <a:p>
            <a:pPr algn="l">
              <a:spcAft>
                <a:spcPts val="1200"/>
              </a:spcAft>
            </a:pPr>
            <a:r>
              <a:rPr sz="880">
                <a:solidFill>
                  <a:srgbClr val="A6192E"/>
                </a:solidFill>
                <a:latin typeface="Arial"/>
              </a:rPr>
              <a:t>■  </a:t>
            </a:r>
            <a:r>
              <a:rPr sz="1600" b="0">
                <a:solidFill>
                  <a:srgbClr val="1E2329"/>
                </a:solidFill>
                <a:latin typeface="Arial"/>
              </a:rPr>
              <a:t>So we do not claim the gain comes from the two stages alone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Stage 1 segments the whole apple almost perfectly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23774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237744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2011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A6192E"/>
                </a:solidFill>
                <a:latin typeface="Arial"/>
              </a:rPr>
              <a:t>1.000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E2329"/>
                </a:solidFill>
                <a:latin typeface="Arial"/>
              </a:rPr>
              <a:t>Precision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0" y="1600200"/>
            <a:ext cx="23774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8960" y="1600200"/>
            <a:ext cx="237744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783080"/>
            <a:ext cx="2011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A6192E"/>
                </a:solidFill>
                <a:latin typeface="Arial"/>
              </a:rPr>
              <a:t>0.986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46888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E2329"/>
                </a:solidFill>
                <a:latin typeface="Arial"/>
              </a:rPr>
              <a:t>Recall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29000"/>
            <a:ext cx="23774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429000"/>
            <a:ext cx="237744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611880"/>
            <a:ext cx="2011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A6192E"/>
                </a:solidFill>
                <a:latin typeface="Arial"/>
              </a:rPr>
              <a:t>0.985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29768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E2329"/>
                </a:solidFill>
                <a:latin typeface="Arial"/>
              </a:rPr>
              <a:t>Mask mAP50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429000"/>
            <a:ext cx="23774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08960" y="3429000"/>
            <a:ext cx="237744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611880"/>
            <a:ext cx="2011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A6192E"/>
                </a:solidFill>
                <a:latin typeface="Arial"/>
              </a:rPr>
              <a:t>0.985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29768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E2329"/>
                </a:solidFill>
                <a:latin typeface="Arial"/>
              </a:rPr>
              <a:t>Mask 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03520"/>
            <a:ext cx="5029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Apple validation, 215 images</a:t>
            </a:r>
          </a:p>
          <a:p>
            <a:pPr algn="l">
              <a:spcAft>
                <a:spcPts val="6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Tomato Stage 1 reached 0.966 mAP50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52160" y="1618488"/>
            <a:ext cx="5852160" cy="44439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val_batch0_p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728216"/>
            <a:ext cx="5632704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Stage 2: bruise and rot lead, surface damage trails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54864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051560"/>
                <a:gridCol w="1051560"/>
                <a:gridCol w="1051560"/>
                <a:gridCol w="10515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Precision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mAP50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mAP50-95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Bruise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0.847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0.744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0.777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0.526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0.931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0.713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0.761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0.591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Surface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0.648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0.584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0.527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E2329"/>
                          </a:solidFill>
                          <a:latin typeface="Arial"/>
                        </a:rPr>
                        <a:t>0.253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6E0F1D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6E0F1D"/>
                          </a:solidFill>
                          <a:latin typeface="Arial"/>
                        </a:rPr>
                        <a:t>0.809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6E0F1D"/>
                          </a:solidFill>
                          <a:latin typeface="Arial"/>
                        </a:rPr>
                        <a:t>0.680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6E0F1D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6E0F1D"/>
                          </a:solidFill>
                          <a:latin typeface="Arial"/>
                        </a:rPr>
                        <a:t>0.457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0" y="1990344"/>
            <a:ext cx="5303520" cy="36088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skP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100072"/>
            <a:ext cx="5084064" cy="338937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Most errors are missed defects, not wrong classes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8536" y="1417320"/>
            <a:ext cx="5535168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64" y="1527048"/>
            <a:ext cx="5315712" cy="39867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47816" y="1417320"/>
            <a:ext cx="5535168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nfusion_matrix_normaliz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544" y="1527048"/>
            <a:ext cx="5315712" cy="39867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715000"/>
            <a:ext cx="5577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5F6B76"/>
                </a:solidFill>
                <a:latin typeface="Arial"/>
              </a:rPr>
              <a:t>Validation (215 images)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715000"/>
            <a:ext cx="5577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5F6B76"/>
                </a:solidFill>
                <a:latin typeface="Arial"/>
              </a:rPr>
              <a:t>Unseen test (79 images)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Learning curves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9485"/>
            <a:ext cx="11247120" cy="327327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19213"/>
            <a:ext cx="11027664" cy="30538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2120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770">
                <a:solidFill>
                  <a:srgbClr val="A6192E"/>
                </a:solidFill>
                <a:latin typeface="Arial"/>
              </a:rPr>
              <a:t>■  </a:t>
            </a:r>
            <a:r>
              <a:rPr sz="1400" b="0">
                <a:solidFill>
                  <a:srgbClr val="1E2329"/>
                </a:solidFill>
                <a:latin typeface="Arial"/>
              </a:rPr>
              <a:t>Training loss falls smoothly. Validation mAP levels off after about 30 epochs and early stopping ends the run</a:t>
            </a:r>
          </a:p>
          <a:p>
            <a:pPr algn="l">
              <a:spcAft>
                <a:spcPts val="600"/>
              </a:spcAft>
            </a:pPr>
            <a:r>
              <a:rPr sz="770">
                <a:solidFill>
                  <a:srgbClr val="A6192E"/>
                </a:solidFill>
                <a:latin typeface="Arial"/>
              </a:rPr>
              <a:t>■  </a:t>
            </a:r>
            <a:r>
              <a:rPr sz="1400" b="0">
                <a:solidFill>
                  <a:srgbClr val="1E2329"/>
                </a:solidFill>
                <a:latin typeface="Arial"/>
              </a:rPr>
              <a:t>Tomato Run 24 overfits: validation seg loss is lowest near epoch 26 then rises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Unseen test: apple holds up except bruise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Apple metric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Test (79 images)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Mask precision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0.809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0.718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Mask recall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0.680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0.597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E0F1D"/>
                          </a:solidFill>
                          <a:latin typeface="Arial"/>
                        </a:rPr>
                        <a:t>Mask mAP50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6E0F1D"/>
                          </a:solidFill>
                          <a:latin typeface="Arial"/>
                        </a:rPr>
                        <a:t>0.688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6E0F1D"/>
                          </a:solidFill>
                          <a:latin typeface="Arial"/>
                        </a:rPr>
                        <a:t>0.613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Mask mAP50-95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0.457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0.411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92240" y="1508760"/>
            <a:ext cx="521208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Test frozen before training and used once</a:t>
            </a:r>
          </a:p>
          <a:p>
            <a:pPr algn="l">
              <a:spcAft>
                <a:spcPts val="6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Apple bruise drops the most: 0.777 to 0.594</a:t>
            </a:r>
          </a:p>
          <a:p>
            <a:pPr algn="l">
              <a:spcAft>
                <a:spcPts val="6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Rot and surface damage hold steady</a:t>
            </a:r>
          </a:p>
          <a:p>
            <a:pPr algn="l">
              <a:spcAft>
                <a:spcPts val="6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Tomato drops on every class, mostly from low recall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88592" y="3474720"/>
            <a:ext cx="8784336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al_v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320" y="3584448"/>
            <a:ext cx="8564880" cy="256946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Does the damaged share match the labels?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42678"/>
            <a:ext cx="7863840" cy="34127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verage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52406"/>
            <a:ext cx="7644384" cy="31932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595360" y="1463040"/>
            <a:ext cx="3108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0" y="1463040"/>
            <a:ext cx="310896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1645920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A6192E"/>
                </a:solidFill>
                <a:latin typeface="Arial"/>
              </a:rPr>
              <a:t>r = 0.91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317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E2329"/>
                </a:solidFill>
                <a:latin typeface="Arial"/>
              </a:rPr>
              <a:t>Apple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633472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Mean error 5.2 points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3035808"/>
            <a:ext cx="3108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3035808"/>
            <a:ext cx="3108960" cy="73152"/>
          </a:xfrm>
          <a:prstGeom prst="rect">
            <a:avLst/>
          </a:prstGeom>
          <a:solidFill>
            <a:srgbClr val="5F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3218688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F6B76"/>
                </a:solidFill>
                <a:latin typeface="Arial"/>
              </a:rPr>
              <a:t>r = 0.82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90448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E2329"/>
                </a:solidFill>
                <a:latin typeface="Arial"/>
              </a:rPr>
              <a:t>Tomato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42062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Mean error 3.7 points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4608576"/>
            <a:ext cx="3108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4608576"/>
            <a:ext cx="3108960" cy="7315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4791456"/>
            <a:ext cx="2743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2A900"/>
                </a:solidFill>
                <a:latin typeface="Arial"/>
              </a:rPr>
              <a:t>0.58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5477256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E2329"/>
                </a:solidFill>
                <a:latin typeface="Arial"/>
              </a:rPr>
              <a:t>Apple mean pixel IoU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5779008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B76"/>
                </a:solidFill>
                <a:latin typeface="Arial"/>
              </a:rPr>
              <a:t>Tomato 0.41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Tomato: precise but misses many defects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Tomato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Test (95 images)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Stage 1 whole tomato mAP50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0.966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Stage 2 precision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0.709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0.732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E0F1D"/>
                          </a:solidFill>
                          <a:latin typeface="Arial"/>
                        </a:rPr>
                        <a:t>Stage 2 recall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6E0F1D"/>
                          </a:solidFill>
                          <a:latin typeface="Arial"/>
                        </a:rPr>
                        <a:t>0.473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6E0F1D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Stage 2 mAP50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0.494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0.393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Stage 2 mAP50-95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0.295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Arial"/>
                        </a:rPr>
                        <a:t>0.194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206240"/>
          <a:ext cx="58521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371600"/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Test P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Test R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Test mAP50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Bruise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0.794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0.387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0.388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0.848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0.382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0.477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Surface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0.555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0.357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0.314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675120" y="1835658"/>
            <a:ext cx="5029200" cy="38267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945386"/>
            <a:ext cx="4809744" cy="360730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Tomato: best and worst test images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53507"/>
            <a:ext cx="11247120" cy="41739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omato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63235"/>
            <a:ext cx="11027664" cy="395449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One model for both fruits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64008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Test mAP50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Apple separate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Apple combined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Tomato separate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Tomato combined</a:t>
                      </a:r>
                    </a:p>
                  </a:txBody>
                  <a:tcPr anchor="ctr" marL="91440" marR="91440">
                    <a:solidFill>
                      <a:srgbClr val="A619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Bruise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0.594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0.411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0.388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0.360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0.732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0.849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0.477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0.442</a:t>
                      </a:r>
                    </a:p>
                  </a:txBody>
                  <a:tcPr anchor="ctr" marL="91440" marR="91440">
                    <a:solidFill>
                      <a:srgbClr val="FA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Surface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0.511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0.497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0.314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2329"/>
                          </a:solidFill>
                          <a:latin typeface="Arial"/>
                        </a:rPr>
                        <a:t>0.253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6E0F1D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6E0F1D"/>
                          </a:solidFill>
                          <a:latin typeface="Arial"/>
                        </a:rPr>
                        <a:t>0.613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6E0F1D"/>
                          </a:solidFill>
                          <a:latin typeface="Arial"/>
                        </a:rPr>
                        <a:t>0.586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6E0F1D"/>
                          </a:solidFill>
                          <a:latin typeface="Arial"/>
                        </a:rPr>
                        <a:t>0.393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6E0F1D"/>
                          </a:solidFill>
                          <a:latin typeface="Arial"/>
                        </a:rPr>
                        <a:t>0.352</a:t>
                      </a:r>
                    </a:p>
                  </a:txBody>
                  <a:tcPr anchor="ctr" marL="91440" marR="91440">
                    <a:solidFill>
                      <a:srgbClr val="F8E9EA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separate_vs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87368"/>
            <a:ext cx="6583680" cy="19751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0" y="1645920"/>
            <a:ext cx="43891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Same splits merged without reshuffling</a:t>
            </a:r>
          </a:p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Stage 1 learns apple and tomato so it also names the fruit</a:t>
            </a:r>
          </a:p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Level on validation, slightly lower on test</a:t>
            </a:r>
          </a:p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Each class has only 18 to 28 test images</a:t>
            </a:r>
          </a:p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Separate: Runs 22 and 24. Combined: Runs 25 and 26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Good predictions on unseen test images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573" y="1463040"/>
            <a:ext cx="10964374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d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301" y="1572768"/>
            <a:ext cx="10744918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Failure cases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64564"/>
            <a:ext cx="7680960" cy="33689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ilure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74292"/>
            <a:ext cx="7461504" cy="314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0" y="1600200"/>
            <a:ext cx="32918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Rot predicted as bruise on a discolored apple</a:t>
            </a:r>
          </a:p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Whole-fruit rot label not found</a:t>
            </a:r>
          </a:p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Tiny surface damage missed</a:t>
            </a:r>
          </a:p>
          <a:p>
            <a:pPr algn="l">
              <a:spcAft>
                <a:spcPts val="12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Edge mark predicted as damage on clean skin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04   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Web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417320"/>
            <a:ext cx="6254495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27048"/>
            <a:ext cx="6035039" cy="462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0" y="1600200"/>
            <a:ext cx="39319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Pick apple, tomato or the combined model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Upload a photo or use a sample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Colored masks with a legend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Damaged share of the fruit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Confidence slider and class toggles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Download the result as PNG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19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3657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0" b="1">
                <a:solidFill>
                  <a:srgbClr val="F2A900"/>
                </a:solidFill>
                <a:latin typeface="Arial Black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Conclusion and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06240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64008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Answers to each objective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Limitations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6D9DC"/>
                </a:solidFill>
                <a:latin typeface="Arial"/>
              </a:rPr>
              <a:t>Recommendations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1280160"/>
            <a:ext cx="393192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pple_surface_a_p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258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05   CONCLUSION AND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111556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1737360" cy="777240"/>
          </a:xfrm>
          <a:prstGeom prst="roundRect">
            <a:avLst>
              <a:gd name="adj" fmla="val 12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173736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2A900"/>
                </a:solidFill>
                <a:latin typeface="Arial"/>
              </a:rPr>
              <a:t>SO1  </a:t>
            </a:r>
            <a:r>
              <a:rPr sz="1500" b="1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508760"/>
            <a:ext cx="905256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329"/>
                </a:solidFill>
                <a:latin typeface="Arial"/>
              </a:rPr>
              <a:t>3,423 training files across apple and tomato with team-reviewed masks and frozen capture-group splits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404872"/>
            <a:ext cx="111556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404872"/>
            <a:ext cx="1737360" cy="777240"/>
          </a:xfrm>
          <a:prstGeom prst="roundRect">
            <a:avLst>
              <a:gd name="adj" fmla="val 12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04872"/>
            <a:ext cx="173736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2A900"/>
                </a:solidFill>
                <a:latin typeface="Arial"/>
              </a:rPr>
              <a:t>SO2  </a:t>
            </a:r>
            <a:r>
              <a:rPr sz="1500" b="1">
                <a:solidFill>
                  <a:srgbClr val="FFFFFF"/>
                </a:solidFill>
                <a:latin typeface="Arial"/>
              </a:rPr>
              <a:t>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404872"/>
            <a:ext cx="905256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329"/>
                </a:solidFill>
                <a:latin typeface="Arial"/>
              </a:rPr>
              <a:t>Stage 1 reached 0.985 apple and 0.966 tomato mAP50. Stage 2 trained from those weights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00984"/>
            <a:ext cx="111556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300984"/>
            <a:ext cx="1737360" cy="777240"/>
          </a:xfrm>
          <a:prstGeom prst="roundRect">
            <a:avLst>
              <a:gd name="adj" fmla="val 12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300984"/>
            <a:ext cx="173736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2A900"/>
                </a:solidFill>
                <a:latin typeface="Arial"/>
              </a:rPr>
              <a:t>SO3  </a:t>
            </a:r>
            <a:r>
              <a:rPr sz="1500" b="1">
                <a:solidFill>
                  <a:srgbClr val="FFFFFF"/>
                </a:solidFill>
                <a:latin typeface="Arial"/>
              </a:rPr>
              <a:t>Evaluate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300984"/>
            <a:ext cx="905256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329"/>
                </a:solidFill>
                <a:latin typeface="Arial"/>
              </a:rPr>
              <a:t>Unseen test mAP50 0.613 apple and 0.393 tomato. Coverage r 0.91 and 0.82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7096"/>
            <a:ext cx="111556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4197096"/>
            <a:ext cx="1737360" cy="777240"/>
          </a:xfrm>
          <a:prstGeom prst="roundRect">
            <a:avLst>
              <a:gd name="adj" fmla="val 12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197096"/>
            <a:ext cx="173736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2A900"/>
                </a:solidFill>
                <a:latin typeface="Arial"/>
              </a:rPr>
              <a:t>SO4  </a:t>
            </a:r>
            <a:r>
              <a:rPr sz="1500" b="1">
                <a:solidFill>
                  <a:srgbClr val="FFFFFF"/>
                </a:solidFill>
                <a:latin typeface="Arial"/>
              </a:rPr>
              <a:t>Compare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197096"/>
            <a:ext cx="905256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329"/>
                </a:solidFill>
                <a:latin typeface="Arial"/>
              </a:rPr>
              <a:t>Combined model 0.586 apple and 0.352 tomato, close to separate models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93208"/>
            <a:ext cx="111556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5093208"/>
            <a:ext cx="1737360" cy="777240"/>
          </a:xfrm>
          <a:prstGeom prst="roundRect">
            <a:avLst>
              <a:gd name="adj" fmla="val 12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093208"/>
            <a:ext cx="173736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2A900"/>
                </a:solidFill>
                <a:latin typeface="Arial"/>
              </a:rPr>
              <a:t>SO5  </a:t>
            </a:r>
            <a:r>
              <a:rPr sz="1500" b="1">
                <a:solidFill>
                  <a:srgbClr val="FFFFFF"/>
                </a:solidFill>
                <a:latin typeface="Arial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093208"/>
            <a:ext cx="905256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2329"/>
                </a:solidFill>
                <a:latin typeface="Arial"/>
              </a:rPr>
              <a:t>Streamlit app marks defects and reports the damaged share for apple, tomato or both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05   CONCLUSION AND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Limitations and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4864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5486400" cy="73152"/>
          </a:xfrm>
          <a:prstGeom prst="rect">
            <a:avLst/>
          </a:prstGeom>
          <a:solidFill>
            <a:srgbClr val="5F6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5F6B76"/>
                </a:solidFill>
                <a:latin typeface="Arial"/>
              </a:rPr>
              <a:t>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493776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Labels describe appearance only, not disease or internal damage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Few image sources with mostly plain backgrounds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Small surface damage and faint tomato bruises remain hard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Two-stage gain is not isolated from model size and settings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One annotator per image with review, no agreement 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00200"/>
            <a:ext cx="54864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600200"/>
            <a:ext cx="5486400" cy="73152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A6192E"/>
                </a:solidFill>
                <a:latin typeface="Arial"/>
              </a:rPr>
              <a:t>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377440"/>
            <a:ext cx="493776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Collect more small-defect and tomato examples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Run a single-stage baseline with identical settings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Test on new sources, lighting and conveyor photos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Measure agreement between two annotators</a:t>
            </a:r>
          </a:p>
          <a:p>
            <a:pPr algn="l">
              <a:spcAft>
                <a:spcPts val="1000"/>
              </a:spcAft>
            </a:pPr>
            <a:r>
              <a:rPr sz="825">
                <a:solidFill>
                  <a:srgbClr val="A6192E"/>
                </a:solidFill>
                <a:latin typeface="Arial"/>
              </a:rPr>
              <a:t>■  </a:t>
            </a:r>
            <a:r>
              <a:rPr sz="1500" b="0">
                <a:solidFill>
                  <a:srgbClr val="1E2329"/>
                </a:solidFill>
                <a:latin typeface="Arial"/>
              </a:rPr>
              <a:t>Try higher input resolution for tiny defects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A6192E"/>
                </a:solidFill>
                <a:latin typeface="Arial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1">
                <a:solidFill>
                  <a:srgbClr val="1E2329"/>
                </a:solidFill>
                <a:latin typeface="Arial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16152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00" b="0">
                <a:solidFill>
                  <a:srgbClr val="5F6B76"/>
                </a:solidFill>
                <a:latin typeface="Arial"/>
              </a:rPr>
              <a:t>CIPHER   |   AI2 AM3   |   School of Information Technology, Mapúa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4552" y="6382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A61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15568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E2329"/>
                </a:solidFill>
                <a:latin typeface="Arial"/>
              </a:rPr>
              <a:t>[1] M. U. Mojumdar et al., AFruitDB, Data in Brief, vol. 59, 2025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E2329"/>
                </a:solidFill>
                <a:latin typeface="Arial"/>
              </a:rPr>
              <a:t>[2] K. He, G. Gkioxari, P. Dollár and R. Girshick, Mask R-CNN, ICCV 2017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E2329"/>
                </a:solidFill>
                <a:latin typeface="Arial"/>
              </a:rPr>
              <a:t>[3] M. Agarla, P. Napoletano and R. Schettini, Quasi real-time apple defect segmentation, Sensors, 2023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E2329"/>
                </a:solidFill>
                <a:latin typeface="Arial"/>
              </a:rPr>
              <a:t>[4] M. Knott et al., Weakly supervised panoptic segmentation for fresh produce grading, CVPRW 2025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E2329"/>
                </a:solidFill>
                <a:latin typeface="Arial"/>
              </a:rPr>
              <a:t>[5] F. Leiva, S. G. Rebeaud and D. Christen, Apple scab with YOLO11, Plant Methods, vol. 22, 2026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E2329"/>
                </a:solidFill>
                <a:latin typeface="Arial"/>
              </a:rPr>
              <a:t>[6] C. Tan et al., Blueberry internal bruising with deep learning, Front. Plant Sci., 2025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E2329"/>
                </a:solidFill>
                <a:latin typeface="Arial"/>
              </a:rPr>
              <a:t>[7] S. Nesteruk et al., XtremeAugment, IEEE Access, vol. 10, 2022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E2329"/>
                </a:solidFill>
                <a:latin typeface="Arial"/>
              </a:rPr>
              <a:t>[8] S. Nesteruk, Apple rotting segmentation problem in the wild, Kaggle, CC BY-NC-SA 4.0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E2329"/>
                </a:solidFill>
                <a:latin typeface="Arial"/>
              </a:rPr>
              <a:t>[9] Roboflow, Roboflow Annotate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E2329"/>
                </a:solidFill>
                <a:latin typeface="Arial"/>
              </a:rPr>
              <a:t>[10] Ultralytics, YOLO26 documentation, 2026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19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943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0"/>
            <a:ext cx="822960" cy="457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5943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F2A900"/>
                </a:solidFill>
                <a:latin typeface="Arial"/>
              </a:rPr>
              <a:t>Questions and 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594360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6D9DC"/>
                </a:solidFill>
                <a:latin typeface="Arial"/>
              </a:rPr>
              <a:t>CIPHER   |   AI2 AM3   |   Mapúa University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6D9DC"/>
                </a:solidFill>
                <a:latin typeface="Arial"/>
              </a:rPr>
              <a:t>Morales   Espia   Largueza   Arligue</a:t>
            </a:r>
          </a:p>
        </p:txBody>
      </p:sp>
      <p:pic>
        <p:nvPicPr>
          <p:cNvPr id="7" name="Picture 6" descr="apple_rot_b_p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463040"/>
            <a:ext cx="1874519" cy="1874519"/>
          </a:xfrm>
          <a:prstGeom prst="rect">
            <a:avLst/>
          </a:prstGeom>
        </p:spPr>
      </p:pic>
      <p:pic>
        <p:nvPicPr>
          <p:cNvPr id="8" name="Picture 7" descr="tomato_rot_a_p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5207" y="1463040"/>
            <a:ext cx="1874519" cy="1874519"/>
          </a:xfrm>
          <a:prstGeom prst="rect">
            <a:avLst/>
          </a:prstGeom>
        </p:spPr>
      </p:pic>
      <p:pic>
        <p:nvPicPr>
          <p:cNvPr id="9" name="Picture 8" descr="apple_bruise_a_pr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447287"/>
            <a:ext cx="1874519" cy="1874519"/>
          </a:xfrm>
          <a:prstGeom prst="rect">
            <a:avLst/>
          </a:prstGeom>
        </p:spPr>
      </p:pic>
      <p:pic>
        <p:nvPicPr>
          <p:cNvPr id="10" name="Picture 9" descr="tomato_surface_a_pre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5207" y="3447287"/>
            <a:ext cx="1874519" cy="18745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