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933"/>
                </a:solidFill>
                <a:latin typeface="Arial"/>
              </a:rPr>
              <a:t>Computer Vision-Driven Two-Stage Instance Segmentation of Post-Harvest Surface Defects in Apple and Tomato Using YOLO26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429000"/>
            <a:ext cx="146304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CIPHER  |  Artificial Intelligence 2  |  AM3  |  Mapúa University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Ralph Kevin G. Morales   Alexander Jann P. Espia   Deangelo James P. Largueza   Niel Francis M. Arligue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Adviser: Dr. Lysa V. Comia   |   Final defense,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Post-harvest sorting depends on visible skin defects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Public grading sets such as AFruitDB label the whole image with a grade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A grade does not say where the defect is or how big it is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Goal: outline every visible defect at pixel level and name its type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Scope: apple and tomato photos in RGB</a:t>
            </a:r>
          </a:p>
        </p:txBody>
      </p:sp>
      <p:pic>
        <p:nvPicPr>
          <p:cNvPr id="7" name="Picture 6" descr="ground_truth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60982"/>
            <a:ext cx="5303520" cy="14959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606D"/>
                </a:solidFill>
                <a:latin typeface="Arial"/>
              </a:rPr>
              <a:t>Team masks: orange bruise or discoloration, pink rot mold or decay, blue surface damage, green whole fruit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Why instance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3291840"/>
          </a:xfrm>
          <a:prstGeom prst="rect">
            <a:avLst/>
          </a:prstGeom>
          <a:solidFill>
            <a:srgbClr val="F5F7FA"/>
          </a:solidFill>
          <a:ln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3"/>
                </a:solidFill>
                <a:latin typeface="Arial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label per image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Says grade 3 but not 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3291840"/>
          </a:xfrm>
          <a:prstGeom prst="rect">
            <a:avLst/>
          </a:prstGeom>
          <a:solidFill>
            <a:srgbClr val="F5F7FA"/>
          </a:solidFill>
          <a:ln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3"/>
                </a:solidFill>
                <a:latin typeface="Arial"/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box per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Box around a bruise still covers healthy skin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329184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E7D32"/>
                </a:solidFill>
                <a:latin typeface="Arial"/>
              </a:rPr>
              <a:t>Instance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mask per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Exact defect pixels so area can be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The professor's requirement: pixel-level precision. Our output is one mask per defect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Dataset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files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License or owner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AFruitDB grading photos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Mendeley Data, cited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Lab2Wild apple rot set [9]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Kaggle CC BY-NC-SA 4.0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Photos taken by the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CIPHER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Total apple training files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2,110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726 capture groups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AFruitDB tomato photos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Mendeley Data, cited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Original AFruitDB grades are image labels only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All pixel masks were drawn by the team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Roboflow export adds up to 3 variants per photo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So 2,110 files are not 2,110 distinct photos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Tomato: 1,313 files from 459 capture groups, same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Defect classes and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Looks like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imgs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masks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bruise_discoloration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Smooth dark or discolored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rot_mold_decay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Soft collapsed or moldy tissue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surface_damage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Cut crack scar or dry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6949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Polygons drawn by the team in Roboflow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proposal reviewed and corrected by a member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Pilots began with five classes then merged rare ones into three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Excluded: shadows, glare, stems, speckles, normal ripening color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class has more than 300 training images</a:t>
            </a:r>
          </a:p>
        </p:txBody>
      </p:sp>
      <p:pic>
        <p:nvPicPr>
          <p:cNvPr id="8" name="Picture 7" descr="ground_truth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188665"/>
            <a:ext cx="3931920" cy="1109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Gallery of labeled defects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defec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559" y="1188720"/>
            <a:ext cx="503184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Class balance and defect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81" y="1371600"/>
            <a:ext cx="1126155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defect class has more than 570 training masks on each fruit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Median defect size: apple rot 48% of the fruit, tomato rot 3.5%, surface damage under 0.5% on both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Small masks are harder to segment, which matches the weaker tomato and surface damage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Splits and leakage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5544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Images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Capture groups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Checkpoint choice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Final check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Reserve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Never used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630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Split by capture group so variants of one photo stay together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Exact pixel hashes checked across splits: no exact copies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545 training images have no defect and act as negatives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Augmentation only on training images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Test scores were never used to pick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Project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7758"/>
            <a:ext cx="11429999" cy="2373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Two-stage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Pretrained
YOLO26l-seg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1
whole fruit mask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632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79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1
best.pt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39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1828800"/>
            <a:ext cx="1920240" cy="11887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2
3 defect classes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0976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19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App
fruit + defects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Stage 1 learns what an apple looks like on every training image, damaged or not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Stage 2 starts from Stage 1 weights, rebuilds the output head for 3 defects, new AdamW optimizer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Shared backbone and neck weights carry over so Stage 2 does not start from scratch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In the app Stage 1 also gives the fruit area for defect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Two stages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two_stag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Training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3152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Stage 1 (Run 21)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Stage 2 (Run 22)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Start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yolo26l-seg.pt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Run 21 best.pt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Classes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apple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Optimizer / lr0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SGD /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AdamW / 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Max epochs / patience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100 / 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300 / 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Image size /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864 /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864 /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Schedule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cosine, 3 warmup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cosine, 3 warmup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Epochs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46304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Augment: flips, 10 degree rotation, small shift, scale and color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No Mosaic, MixUp or Copy-Paste to keep defect texture real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Ultralytics 8.4.126, AMP, seed 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NVIDIA A100 80 GB on Colab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Run history: 24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run_history_ma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280160"/>
            <a:ext cx="838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What changed between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9784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822960"/>
                <a:gridCol w="274320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mAP50-95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5 classes, 252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First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+ 1 merged defect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Merged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mango tomato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Three fruits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tomato + members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Member photos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tomato 3,423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Bigger set 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4 classes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only, single stage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Two-stage, large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Tomato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Two-stage, tomato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+ tomato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One model, both fruits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0.374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Joint runs average in the easy whole-fruit classes. Runs 20 and 22 report the three defect classes only so their lower number does not mean a worse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Same data, defects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defec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8216"/>
            <a:ext cx="6583680" cy="3950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554480"/>
            <a:ext cx="4297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Runs 14, 20, 22 use the same images and splits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Average defect mAP50 rose from 0.624 to 0.688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These runs also differ in size, optimizer and image size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So the gain is not proof that two stages alone helped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Stage 1 result: whole apple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 (215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mAP50-95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85900"/>
            <a:ext cx="60350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Stage 2 result: defects on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mAP50-95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0.931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ask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1200"/>
            <a:ext cx="530352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280160"/>
            <a:ext cx="5364480" cy="4023360"/>
          </a:xfrm>
          <a:prstGeom prst="rect">
            <a:avLst/>
          </a:prstGeom>
        </p:spPr>
      </p:pic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280160"/>
            <a:ext cx="53644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Validation (215 images)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Unseen test (79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Columns are true classes. Main error: defects missed as background. Bruise and rot rarely confused (4% or less). Validation false alarms are mostly surface damage.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Learning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19</a:t>
            </a:r>
          </a:p>
        </p:txBody>
      </p:sp>
      <p:pic>
        <p:nvPicPr>
          <p:cNvPr id="6" name="Picture 5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7745"/>
            <a:ext cx="11429999" cy="3165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6344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Training loss falls smoothly. Validation mAP levels off after about 30 epochs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Early stopping ended the runs before a long decline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 (Run 24) overfits: validation seg loss is lowest near epoch 26 then rises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Ultralytics results.png for every run is in runs/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Unseen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(79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mAP50-95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749039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389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Test frozen before training and used once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Drop vs validation is expected: checkpoint was picked on validation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Almost all of the drop is bruise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Rot and surface damage hold steady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Small test set: one bruise miss moves recall about 4 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Validation vs test per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val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94460"/>
            <a:ext cx="11430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rot and surface damage hold on unseen images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bruise drops the most: 0.777 on validation, 0.594 on test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 drops on every class, mostly from low recall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Does the damaged share match?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coverage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3610"/>
            <a:ext cx="7863840" cy="3284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Apple: r = 0.91, error 5.2 points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Tomato: r = 0.82, error 3.7 points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Most big errors are defects missed entirely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Mean pixel IoU: apple 0.58, tomato 0.41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Tomato: two-stage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Tomato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(95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1 whole tomato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precision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mAP50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mAP50-95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23360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R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389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Whole tomato is easy for Stage 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When it marks a defect it is usually right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But it finds only about 38% of tomato defects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1,313 train files from 459 groups vs 2,110 from 726 for apple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280160"/>
            <a:ext cx="5364480" cy="4023360"/>
          </a:xfrm>
          <a:prstGeom prst="rect">
            <a:avLst/>
          </a:prstGeom>
        </p:spPr>
      </p:pic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280160"/>
            <a:ext cx="53644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Validation (132 images)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Unseen test (95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On test 52% to 57% of each defect class is missed as background. Defect classes are rarely confused (5% or less). Most false alarms are surface damage.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Tomato: best and worst test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tomato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33897"/>
            <a:ext cx="11430000" cy="40987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Large rot regions are found with IoU above 0.9. Faint bruises that are only a slight color change are missed.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One model for both fruits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Test mask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Apple sep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Apple comb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Tomato sep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Tomato comb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0.849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0.442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0.613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606D"/>
                </a:solidFill>
                <a:latin typeface="Arial"/>
              </a:rPr>
              <a:t>sep = separate model per fruit (Runs 22, 24). comb = one combined model (Runs 25, 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931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Level with separate models on validation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Slightly lower on test for both fruits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rot up, apple bruise down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Gaps are within noise of a small test set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One model can serve both fruits at a small cost</a:t>
            </a:r>
          </a:p>
        </p:txBody>
      </p:sp>
      <p:pic>
        <p:nvPicPr>
          <p:cNvPr id="9" name="Picture 8" descr="separate_v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82796"/>
            <a:ext cx="7223760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Good predictions on test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27</a:t>
            </a:r>
          </a:p>
        </p:txBody>
      </p:sp>
      <p:pic>
        <p:nvPicPr>
          <p:cNvPr id="6" name="Picture 5" descr="good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59" y="1280160"/>
            <a:ext cx="1104820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Test images. Mean per-image pixel IoU over 62 test images with a defect: 0.583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Failure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28</a:t>
            </a:r>
          </a:p>
        </p:txBody>
      </p:sp>
      <p:pic>
        <p:nvPicPr>
          <p:cNvPr id="6" name="Picture 5" descr="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43659"/>
            <a:ext cx="7863840" cy="3319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54480"/>
            <a:ext cx="3383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Rot predicted as bruise on a discolored apple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Whole-fruit rot label not found by the model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Tiny surface damage missed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Edge mark predicted as surface damage on clean skin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Web application (Streamlit)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29</a:t>
            </a:r>
          </a:p>
        </p:txBody>
      </p:sp>
      <p:pic>
        <p:nvPicPr>
          <p:cNvPr id="6" name="Picture 5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97" y="1280160"/>
            <a:ext cx="632128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463040"/>
            <a:ext cx="3566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Pick apple, tomato or the combined model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Upload a photo or use a sample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Colored masks with a legend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Defect share of the image and of the fruit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Confidence slider and class toggles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Download the result as PNG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Clear messages for bad files or no defects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Labels describe appearance only. The model does not diagnose disease or internal damage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Few image sources with mostly plain backgrounds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Small surface damage remains hard and lowers recall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Two-stage gain is not isolated from model size and settings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One annotator per image with review. No formal agreement score yet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Tomato recall is low: about half of its defects are missed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Two-stage YOLO26l segments the whole apple almost perfectly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Apple defects reach 0.613 test mask mAP50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Rot is the most stable class and surface damage the hardest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Tomato reaches 0.393 test mAP50 with low recall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One combined model is close to two separate models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Working upload app for apple and tomato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More small-defect examples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Controlled single-stage baseline with equal settings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Test on new sources and lighting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Measure agreement between annotators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Next steps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References and AI disclosure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[1] Mojumdar et al., AFruitDB, Data in Brief 59, 2025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[5] Leiva, Rebeaud, Christen, apple scab with YOLO11, Plant Methods 22, 2026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[8] Nesteruk, Apple rotting segmentation problem in the wild, Kaggle, CC BY-NC-SA 4.0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[10] Ultralytics, YOLO26 documentation, 2026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Full IEEE reference list in the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AI tools used: Claude (Anthropic) and OpenAI Codex for planning, explanation and code scaffolding. All outputs were checked by the team. Full transcripts are included in the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